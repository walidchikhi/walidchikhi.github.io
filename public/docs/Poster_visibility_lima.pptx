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2"/>
  </p:sldIdLst>
  <p:sldSz cx="30384750" cy="4280376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 d="100"/>
          <a:sy n="13" d="100"/>
        </p:scale>
        <p:origin x="2630"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DCE44B27-4EE2-4541-B81F-B7C901C92776}"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19200" y="1707840"/>
            <a:ext cx="27345600" cy="71478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6" name="PlaceHolder 2"/>
          <p:cNvSpPr>
            <a:spLocks noGrp="1"/>
          </p:cNvSpPr>
          <p:nvPr>
            <p:ph type="subTitle"/>
          </p:nvPr>
        </p:nvSpPr>
        <p:spPr>
          <a:xfrm>
            <a:off x="1519200" y="10015920"/>
            <a:ext cx="27345600" cy="24825600"/>
          </a:xfrm>
          <a:prstGeom prst="rect">
            <a:avLst/>
          </a:prstGeom>
          <a:noFill/>
          <a:ln w="0">
            <a:noFill/>
          </a:ln>
        </p:spPr>
        <p:txBody>
          <a:bodyPr lIns="0" tIns="0" rIns="0" bIns="0" anchor="ctr">
            <a:noAutofit/>
          </a:bodyPr>
          <a:lstStyle/>
          <a:p>
            <a:pPr algn="ctr">
              <a:buNone/>
            </a:pPr>
            <a:endParaRPr lang="fr-FR" sz="3200" b="0" strike="noStrike" spc="-1">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E94524A1-2B05-4E88-9428-27D82387EA7A}" type="slidenum">
              <a:t>‹#›</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1519200" y="1707840"/>
            <a:ext cx="27345600" cy="71478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8" name="PlaceHolder 2"/>
          <p:cNvSpPr>
            <a:spLocks noGrp="1"/>
          </p:cNvSpPr>
          <p:nvPr>
            <p:ph/>
          </p:nvPr>
        </p:nvSpPr>
        <p:spPr>
          <a:xfrm>
            <a:off x="1519200" y="10015920"/>
            <a:ext cx="27345600" cy="24825600"/>
          </a:xfrm>
          <a:prstGeom prst="rect">
            <a:avLst/>
          </a:prstGeom>
          <a:noFill/>
          <a:ln w="0">
            <a:noFill/>
          </a:ln>
        </p:spPr>
        <p:txBody>
          <a:bodyPr lIns="0" tIns="0" rIns="0" bIns="0" anchor="t">
            <a:normAutofit/>
          </a:bodyPr>
          <a:lstStyle/>
          <a:p>
            <a:endParaRPr lang="fr-FR" sz="3200" b="0" strike="noStrike" spc="-1">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2E33797E-867F-4F80-9C66-315FC1A1F74C}"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519200" y="1707840"/>
            <a:ext cx="27345600" cy="71478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10" name="PlaceHolder 2"/>
          <p:cNvSpPr>
            <a:spLocks noGrp="1"/>
          </p:cNvSpPr>
          <p:nvPr>
            <p:ph/>
          </p:nvPr>
        </p:nvSpPr>
        <p:spPr>
          <a:xfrm>
            <a:off x="1519200" y="10015920"/>
            <a:ext cx="13344480" cy="2482560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1" name="PlaceHolder 3"/>
          <p:cNvSpPr>
            <a:spLocks noGrp="1"/>
          </p:cNvSpPr>
          <p:nvPr>
            <p:ph/>
          </p:nvPr>
        </p:nvSpPr>
        <p:spPr>
          <a:xfrm>
            <a:off x="15531120" y="10015920"/>
            <a:ext cx="13344480" cy="24825600"/>
          </a:xfrm>
          <a:prstGeom prst="rect">
            <a:avLst/>
          </a:prstGeom>
          <a:noFill/>
          <a:ln w="0">
            <a:noFill/>
          </a:ln>
        </p:spPr>
        <p:txBody>
          <a:bodyPr lIns="0" tIns="0" rIns="0" bIns="0" anchor="t">
            <a:normAutofit/>
          </a:bodyPr>
          <a:lstStyle/>
          <a:p>
            <a:endParaRPr lang="fr-FR" sz="3200" b="0" strike="noStrike" spc="-1">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D380A9BD-9B26-4626-B787-2341FBABE529}"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1519200" y="1707840"/>
            <a:ext cx="27345600" cy="71478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A07910F8-E641-4510-A65C-BBDA78DD4400}"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1519200" y="1707840"/>
            <a:ext cx="27345600" cy="33134400"/>
          </a:xfrm>
          <a:prstGeom prst="rect">
            <a:avLst/>
          </a:prstGeom>
          <a:noFill/>
          <a:ln w="0">
            <a:noFill/>
          </a:ln>
        </p:spPr>
        <p:txBody>
          <a:bodyPr lIns="0" tIns="0" rIns="0" bIns="0" anchor="ctr">
            <a:noAutofit/>
          </a:bodyPr>
          <a:lstStyle/>
          <a:p>
            <a:pPr algn="ctr">
              <a:buNone/>
            </a:pPr>
            <a:endParaRPr lang="fr-FR" sz="32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2E836BAE-CE80-4BAC-8549-9DEC4E4AA938}"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519200" y="1707840"/>
            <a:ext cx="27345600" cy="71478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15" name="PlaceHolder 2"/>
          <p:cNvSpPr>
            <a:spLocks noGrp="1"/>
          </p:cNvSpPr>
          <p:nvPr>
            <p:ph/>
          </p:nvPr>
        </p:nvSpPr>
        <p:spPr>
          <a:xfrm>
            <a:off x="1519200" y="10015920"/>
            <a:ext cx="133444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6" name="PlaceHolder 3"/>
          <p:cNvSpPr>
            <a:spLocks noGrp="1"/>
          </p:cNvSpPr>
          <p:nvPr>
            <p:ph/>
          </p:nvPr>
        </p:nvSpPr>
        <p:spPr>
          <a:xfrm>
            <a:off x="15531120" y="10015920"/>
            <a:ext cx="13344480" cy="24825600"/>
          </a:xfrm>
          <a:prstGeom prst="rect">
            <a:avLst/>
          </a:prstGeom>
          <a:noFill/>
          <a:ln w="0">
            <a:noFill/>
          </a:ln>
        </p:spPr>
        <p:txBody>
          <a:bodyPr lIns="0" tIns="0" rIns="0" bIns="0" anchor="t">
            <a:normAutofit/>
          </a:bodyPr>
          <a:lstStyle/>
          <a:p>
            <a:endParaRPr lang="fr-FR" sz="3200" b="0" strike="noStrike" spc="-1">
              <a:latin typeface="Arial"/>
            </a:endParaRPr>
          </a:p>
        </p:txBody>
      </p:sp>
      <p:sp>
        <p:nvSpPr>
          <p:cNvPr id="17" name="PlaceHolder 4"/>
          <p:cNvSpPr>
            <a:spLocks noGrp="1"/>
          </p:cNvSpPr>
          <p:nvPr>
            <p:ph/>
          </p:nvPr>
        </p:nvSpPr>
        <p:spPr>
          <a:xfrm>
            <a:off x="1519200" y="22982760"/>
            <a:ext cx="133444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8320A9FE-E6B6-4E61-93BD-A77800AC0B63}"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519200" y="1707840"/>
            <a:ext cx="27345600" cy="71478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19" name="PlaceHolder 2"/>
          <p:cNvSpPr>
            <a:spLocks noGrp="1"/>
          </p:cNvSpPr>
          <p:nvPr>
            <p:ph/>
          </p:nvPr>
        </p:nvSpPr>
        <p:spPr>
          <a:xfrm>
            <a:off x="1519200" y="10015920"/>
            <a:ext cx="13344480" cy="24825600"/>
          </a:xfrm>
          <a:prstGeom prst="rect">
            <a:avLst/>
          </a:prstGeom>
          <a:noFill/>
          <a:ln w="0">
            <a:noFill/>
          </a:ln>
        </p:spPr>
        <p:txBody>
          <a:bodyPr lIns="0" tIns="0" rIns="0" bIns="0" anchor="t">
            <a:normAutofit/>
          </a:bodyPr>
          <a:lstStyle/>
          <a:p>
            <a:endParaRPr lang="fr-FR" sz="3200" b="0" strike="noStrike" spc="-1">
              <a:latin typeface="Arial"/>
            </a:endParaRPr>
          </a:p>
        </p:txBody>
      </p:sp>
      <p:sp>
        <p:nvSpPr>
          <p:cNvPr id="20" name="PlaceHolder 3"/>
          <p:cNvSpPr>
            <a:spLocks noGrp="1"/>
          </p:cNvSpPr>
          <p:nvPr>
            <p:ph/>
          </p:nvPr>
        </p:nvSpPr>
        <p:spPr>
          <a:xfrm>
            <a:off x="15531120" y="10015920"/>
            <a:ext cx="133444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21" name="PlaceHolder 4"/>
          <p:cNvSpPr>
            <a:spLocks noGrp="1"/>
          </p:cNvSpPr>
          <p:nvPr>
            <p:ph/>
          </p:nvPr>
        </p:nvSpPr>
        <p:spPr>
          <a:xfrm>
            <a:off x="15531120" y="22982760"/>
            <a:ext cx="133444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AEDDAC24-A713-4882-82B2-59349DC63587}"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519200" y="1707840"/>
            <a:ext cx="27345600" cy="71478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23" name="PlaceHolder 2"/>
          <p:cNvSpPr>
            <a:spLocks noGrp="1"/>
          </p:cNvSpPr>
          <p:nvPr>
            <p:ph/>
          </p:nvPr>
        </p:nvSpPr>
        <p:spPr>
          <a:xfrm>
            <a:off x="1519200" y="10015920"/>
            <a:ext cx="133444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24" name="PlaceHolder 3"/>
          <p:cNvSpPr>
            <a:spLocks noGrp="1"/>
          </p:cNvSpPr>
          <p:nvPr>
            <p:ph/>
          </p:nvPr>
        </p:nvSpPr>
        <p:spPr>
          <a:xfrm>
            <a:off x="15531120" y="10015920"/>
            <a:ext cx="133444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25" name="PlaceHolder 4"/>
          <p:cNvSpPr>
            <a:spLocks noGrp="1"/>
          </p:cNvSpPr>
          <p:nvPr>
            <p:ph/>
          </p:nvPr>
        </p:nvSpPr>
        <p:spPr>
          <a:xfrm>
            <a:off x="1519200" y="22982760"/>
            <a:ext cx="2734560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24417516-2998-4994-B7D2-0E116239908F}"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519200" y="1707840"/>
            <a:ext cx="27345600" cy="71478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27" name="PlaceHolder 2"/>
          <p:cNvSpPr>
            <a:spLocks noGrp="1"/>
          </p:cNvSpPr>
          <p:nvPr>
            <p:ph/>
          </p:nvPr>
        </p:nvSpPr>
        <p:spPr>
          <a:xfrm>
            <a:off x="1519200" y="10015920"/>
            <a:ext cx="2734560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28" name="PlaceHolder 3"/>
          <p:cNvSpPr>
            <a:spLocks noGrp="1"/>
          </p:cNvSpPr>
          <p:nvPr>
            <p:ph/>
          </p:nvPr>
        </p:nvSpPr>
        <p:spPr>
          <a:xfrm>
            <a:off x="1519200" y="22982760"/>
            <a:ext cx="2734560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BE3E2C4D-5D5A-4CC5-AD1C-8DFE9F572CBD}"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519200" y="1707840"/>
            <a:ext cx="27345600" cy="71478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30" name="PlaceHolder 2"/>
          <p:cNvSpPr>
            <a:spLocks noGrp="1"/>
          </p:cNvSpPr>
          <p:nvPr>
            <p:ph/>
          </p:nvPr>
        </p:nvSpPr>
        <p:spPr>
          <a:xfrm>
            <a:off x="1519200" y="10015920"/>
            <a:ext cx="133444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1" name="PlaceHolder 3"/>
          <p:cNvSpPr>
            <a:spLocks noGrp="1"/>
          </p:cNvSpPr>
          <p:nvPr>
            <p:ph/>
          </p:nvPr>
        </p:nvSpPr>
        <p:spPr>
          <a:xfrm>
            <a:off x="15531120" y="10015920"/>
            <a:ext cx="133444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2" name="PlaceHolder 4"/>
          <p:cNvSpPr>
            <a:spLocks noGrp="1"/>
          </p:cNvSpPr>
          <p:nvPr>
            <p:ph/>
          </p:nvPr>
        </p:nvSpPr>
        <p:spPr>
          <a:xfrm>
            <a:off x="1519200" y="22982760"/>
            <a:ext cx="133444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3" name="PlaceHolder 5"/>
          <p:cNvSpPr>
            <a:spLocks noGrp="1"/>
          </p:cNvSpPr>
          <p:nvPr>
            <p:ph/>
          </p:nvPr>
        </p:nvSpPr>
        <p:spPr>
          <a:xfrm>
            <a:off x="15531120" y="22982760"/>
            <a:ext cx="133444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52D5FB48-051A-4368-8D62-80F014B832A8}" type="slidenum">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519200" y="1707840"/>
            <a:ext cx="27345600" cy="7147800"/>
          </a:xfrm>
          <a:prstGeom prst="rect">
            <a:avLst/>
          </a:prstGeom>
          <a:noFill/>
          <a:ln w="0">
            <a:noFill/>
          </a:ln>
        </p:spPr>
        <p:txBody>
          <a:bodyPr lIns="0" tIns="0" rIns="0" bIns="0" anchor="ctr">
            <a:noAutofit/>
          </a:bodyPr>
          <a:lstStyle/>
          <a:p>
            <a:pPr algn="ctr">
              <a:buNone/>
            </a:pPr>
            <a:endParaRPr lang="fr-FR" sz="4400" b="0" strike="noStrike" spc="-1">
              <a:latin typeface="Arial"/>
            </a:endParaRPr>
          </a:p>
        </p:txBody>
      </p:sp>
      <p:sp>
        <p:nvSpPr>
          <p:cNvPr id="35" name="PlaceHolder 2"/>
          <p:cNvSpPr>
            <a:spLocks noGrp="1"/>
          </p:cNvSpPr>
          <p:nvPr>
            <p:ph/>
          </p:nvPr>
        </p:nvSpPr>
        <p:spPr>
          <a:xfrm>
            <a:off x="1519200" y="10015920"/>
            <a:ext cx="88048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6" name="PlaceHolder 3"/>
          <p:cNvSpPr>
            <a:spLocks noGrp="1"/>
          </p:cNvSpPr>
          <p:nvPr>
            <p:ph/>
          </p:nvPr>
        </p:nvSpPr>
        <p:spPr>
          <a:xfrm>
            <a:off x="10764720" y="10015920"/>
            <a:ext cx="88048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7" name="PlaceHolder 4"/>
          <p:cNvSpPr>
            <a:spLocks noGrp="1"/>
          </p:cNvSpPr>
          <p:nvPr>
            <p:ph/>
          </p:nvPr>
        </p:nvSpPr>
        <p:spPr>
          <a:xfrm>
            <a:off x="20010240" y="10015920"/>
            <a:ext cx="88048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8" name="PlaceHolder 5"/>
          <p:cNvSpPr>
            <a:spLocks noGrp="1"/>
          </p:cNvSpPr>
          <p:nvPr>
            <p:ph/>
          </p:nvPr>
        </p:nvSpPr>
        <p:spPr>
          <a:xfrm>
            <a:off x="1519200" y="22982760"/>
            <a:ext cx="88048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39" name="PlaceHolder 6"/>
          <p:cNvSpPr>
            <a:spLocks noGrp="1"/>
          </p:cNvSpPr>
          <p:nvPr>
            <p:ph/>
          </p:nvPr>
        </p:nvSpPr>
        <p:spPr>
          <a:xfrm>
            <a:off x="10764720" y="22982760"/>
            <a:ext cx="88048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40" name="PlaceHolder 7"/>
          <p:cNvSpPr>
            <a:spLocks noGrp="1"/>
          </p:cNvSpPr>
          <p:nvPr>
            <p:ph/>
          </p:nvPr>
        </p:nvSpPr>
        <p:spPr>
          <a:xfrm>
            <a:off x="20010240" y="22982760"/>
            <a:ext cx="8804880" cy="11841480"/>
          </a:xfrm>
          <a:prstGeom prst="rect">
            <a:avLst/>
          </a:prstGeom>
          <a:noFill/>
          <a:ln w="0">
            <a:noFill/>
          </a:ln>
        </p:spPr>
        <p:txBody>
          <a:bodyPr lIns="0" tIns="0" rIns="0" bIns="0" anchor="t">
            <a:normAutofit/>
          </a:bodyPr>
          <a:lstStyle/>
          <a:p>
            <a:endParaRPr lang="fr-FR" sz="3200" b="0" strike="noStrike" spc="-1">
              <a:latin typeface="Arial"/>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4D88477C-9FEB-41D0-89DB-24654BB2F64C}" type="slidenum">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6DCE5">
            <a:alpha val="66000"/>
          </a:srgbClr>
        </a:solidFill>
        <a:effectLst/>
      </p:bgPr>
    </p:bg>
    <p:spTree>
      <p:nvGrpSpPr>
        <p:cNvPr id="1" name=""/>
        <p:cNvGrpSpPr/>
        <p:nvPr/>
      </p:nvGrpSpPr>
      <p:grpSpPr>
        <a:xfrm>
          <a:off x="0" y="0"/>
          <a:ext cx="0" cy="0"/>
          <a:chOff x="0" y="0"/>
          <a:chExt cx="0" cy="0"/>
        </a:xfrm>
      </p:grpSpPr>
      <p:sp>
        <p:nvSpPr>
          <p:cNvPr id="5" name="PlaceHolder 1"/>
          <p:cNvSpPr>
            <a:spLocks noGrp="1"/>
          </p:cNvSpPr>
          <p:nvPr>
            <p:ph type="ftr" idx="1"/>
          </p:nvPr>
        </p:nvSpPr>
        <p:spPr>
          <a:xfrm>
            <a:off x="10064880" y="39672720"/>
            <a:ext cx="10253880" cy="2277720"/>
          </a:xfrm>
          <a:prstGeom prst="rect">
            <a:avLst/>
          </a:prstGeom>
          <a:noFill/>
          <a:ln w="0">
            <a:noFill/>
          </a:ln>
        </p:spPr>
        <p:txBody>
          <a:bodyPr lIns="90000" tIns="45000" rIns="90000" bIns="45000" anchor="ctr">
            <a:noAutofit/>
          </a:bodyPr>
          <a:lstStyle>
            <a:lvl1pPr algn="ctr">
              <a:lnSpc>
                <a:spcPct val="100000"/>
              </a:lnSpc>
              <a:buNone/>
              <a:defRPr lang="fr-FR" sz="1400" b="0" strike="noStrike" spc="-1">
                <a:latin typeface="Times New Roman"/>
              </a:defRPr>
            </a:lvl1pPr>
          </a:lstStyle>
          <a:p>
            <a:pPr algn="ctr">
              <a:lnSpc>
                <a:spcPct val="100000"/>
              </a:lnSpc>
              <a:buNone/>
            </a:pPr>
            <a:r>
              <a:rPr lang="fr-FR" sz="1400" b="0" strike="noStrike" spc="-1">
                <a:latin typeface="Times New Roman"/>
              </a:rPr>
              <a:t>&lt;pied de page&gt;</a:t>
            </a:r>
          </a:p>
        </p:txBody>
      </p:sp>
      <p:sp>
        <p:nvSpPr>
          <p:cNvPr id="6" name="PlaceHolder 2"/>
          <p:cNvSpPr>
            <a:spLocks noGrp="1"/>
          </p:cNvSpPr>
          <p:nvPr>
            <p:ph type="sldNum" idx="2"/>
          </p:nvPr>
        </p:nvSpPr>
        <p:spPr>
          <a:xfrm>
            <a:off x="21459240" y="39672720"/>
            <a:ext cx="6835320" cy="2277720"/>
          </a:xfrm>
          <a:prstGeom prst="rect">
            <a:avLst/>
          </a:prstGeom>
          <a:noFill/>
          <a:ln w="0">
            <a:noFill/>
          </a:ln>
        </p:spPr>
        <p:txBody>
          <a:bodyPr lIns="90000" tIns="45000" rIns="90000" bIns="45000" anchor="ctr">
            <a:noAutofit/>
          </a:bodyPr>
          <a:lstStyle>
            <a:lvl1pPr algn="r">
              <a:lnSpc>
                <a:spcPct val="100000"/>
              </a:lnSpc>
              <a:buNone/>
              <a:defRPr lang="fr-FR" sz="3990" b="0" strike="noStrike" spc="-1">
                <a:solidFill>
                  <a:srgbClr val="8B8B8B"/>
                </a:solidFill>
                <a:latin typeface="Calibri"/>
              </a:defRPr>
            </a:lvl1pPr>
          </a:lstStyle>
          <a:p>
            <a:pPr algn="r">
              <a:lnSpc>
                <a:spcPct val="100000"/>
              </a:lnSpc>
              <a:buNone/>
            </a:pPr>
            <a:fld id="{FD57AC5E-A354-4928-BCA4-59D3089F8BE8}" type="slidenum">
              <a:rPr lang="fr-FR" sz="3990" b="0" strike="noStrike" spc="-1">
                <a:solidFill>
                  <a:srgbClr val="8B8B8B"/>
                </a:solidFill>
                <a:latin typeface="Calibri"/>
              </a:rPr>
              <a:t>‹#›</a:t>
            </a:fld>
            <a:endParaRPr lang="fr-FR" sz="3990" b="0" strike="noStrike" spc="-1">
              <a:latin typeface="Times New Roman"/>
            </a:endParaRPr>
          </a:p>
        </p:txBody>
      </p:sp>
      <p:sp>
        <p:nvSpPr>
          <p:cNvPr id="2" name="PlaceHolder 3"/>
          <p:cNvSpPr>
            <a:spLocks noGrp="1"/>
          </p:cNvSpPr>
          <p:nvPr>
            <p:ph type="dt" idx="3"/>
          </p:nvPr>
        </p:nvSpPr>
        <p:spPr>
          <a:xfrm>
            <a:off x="2089080" y="39672720"/>
            <a:ext cx="6835320" cy="2277720"/>
          </a:xfrm>
          <a:prstGeom prst="rect">
            <a:avLst/>
          </a:prstGeom>
          <a:noFill/>
          <a:ln w="0">
            <a:noFill/>
          </a:ln>
        </p:spPr>
        <p:txBody>
          <a:bodyPr lIns="90000" tIns="45000" rIns="90000" bIns="45000" anchor="ctr">
            <a:noAutofit/>
          </a:bodyPr>
          <a:lstStyle>
            <a:lvl1pPr>
              <a:defRPr lang="fr-FR" sz="1400" b="0" strike="noStrike" spc="-1">
                <a:latin typeface="Times New Roman"/>
              </a:defRPr>
            </a:lvl1pPr>
          </a:lstStyle>
          <a:p>
            <a:r>
              <a:rPr lang="fr-FR" sz="1400" b="0" strike="noStrike" spc="-1">
                <a:latin typeface="Times New Roman"/>
              </a:rPr>
              <a:t>&lt;date/heure&gt;</a:t>
            </a:r>
          </a:p>
        </p:txBody>
      </p:sp>
      <p:sp>
        <p:nvSpPr>
          <p:cNvPr id="3" name="PlaceHolder 4"/>
          <p:cNvSpPr>
            <a:spLocks noGrp="1"/>
          </p:cNvSpPr>
          <p:nvPr>
            <p:ph type="title"/>
          </p:nvPr>
        </p:nvSpPr>
        <p:spPr>
          <a:xfrm>
            <a:off x="1519200" y="1707840"/>
            <a:ext cx="27345600" cy="7147800"/>
          </a:xfrm>
          <a:prstGeom prst="rect">
            <a:avLst/>
          </a:prstGeom>
          <a:noFill/>
          <a:ln w="0">
            <a:noFill/>
          </a:ln>
        </p:spPr>
        <p:txBody>
          <a:bodyPr lIns="0" tIns="0" rIns="0" bIns="0" anchor="ctr">
            <a:noAutofit/>
          </a:bodyPr>
          <a:lstStyle/>
          <a:p>
            <a:pPr algn="ctr">
              <a:buNone/>
            </a:pPr>
            <a:r>
              <a:rPr lang="fr-FR" sz="4400" b="0" strike="noStrike" spc="-1">
                <a:latin typeface="Arial"/>
              </a:rPr>
              <a:t>Cliquez pour éditer le format du texte-titre</a:t>
            </a:r>
          </a:p>
        </p:txBody>
      </p:sp>
      <p:sp>
        <p:nvSpPr>
          <p:cNvPr id="4" name="PlaceHolder 5"/>
          <p:cNvSpPr>
            <a:spLocks noGrp="1"/>
          </p:cNvSpPr>
          <p:nvPr>
            <p:ph type="body"/>
          </p:nvPr>
        </p:nvSpPr>
        <p:spPr>
          <a:xfrm>
            <a:off x="1519200" y="10015920"/>
            <a:ext cx="27345600" cy="24825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3200" b="0" strike="noStrike" spc="-1">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strike="noStrike" spc="-1">
                <a:latin typeface="Arial"/>
              </a:rPr>
              <a:t>Second niveau de plan</a:t>
            </a:r>
          </a:p>
          <a:p>
            <a:pPr marL="1296000" lvl="2" indent="-288000">
              <a:spcBef>
                <a:spcPts val="850"/>
              </a:spcBef>
              <a:buClr>
                <a:srgbClr val="000000"/>
              </a:buClr>
              <a:buSzPct val="45000"/>
              <a:buFont typeface="Wingdings" charset="2"/>
              <a:buChar char=""/>
            </a:pPr>
            <a:r>
              <a:rPr lang="fr-FR" sz="2400" b="0" strike="noStrike" spc="-1">
                <a:latin typeface="Arial"/>
              </a:rPr>
              <a:t>Troisième niveau de plan</a:t>
            </a:r>
          </a:p>
          <a:p>
            <a:pPr marL="1728000" lvl="3" indent="-216000">
              <a:spcBef>
                <a:spcPts val="567"/>
              </a:spcBef>
              <a:buClr>
                <a:srgbClr val="000000"/>
              </a:buClr>
              <a:buSzPct val="75000"/>
              <a:buFont typeface="Symbol" charset="2"/>
              <a:buChar char=""/>
            </a:pPr>
            <a:r>
              <a:rPr lang="fr-FR" sz="2000" b="0" strike="noStrike" spc="-1">
                <a:latin typeface="Arial"/>
              </a:rPr>
              <a:t>Quatrième niveau de plan</a:t>
            </a:r>
          </a:p>
          <a:p>
            <a:pPr marL="2160000" lvl="4" indent="-216000">
              <a:spcBef>
                <a:spcPts val="283"/>
              </a:spcBef>
              <a:buClr>
                <a:srgbClr val="000000"/>
              </a:buClr>
              <a:buSzPct val="45000"/>
              <a:buFont typeface="Wingdings" charset="2"/>
              <a:buChar char=""/>
            </a:pPr>
            <a:r>
              <a:rPr lang="fr-FR" sz="2000" b="0" strike="noStrike" spc="-1">
                <a:latin typeface="Arial"/>
              </a:rPr>
              <a:t>Cinquième niveau de plan</a:t>
            </a:r>
          </a:p>
          <a:p>
            <a:pPr marL="2592000" lvl="5" indent="-216000">
              <a:spcBef>
                <a:spcPts val="283"/>
              </a:spcBef>
              <a:buClr>
                <a:srgbClr val="000000"/>
              </a:buClr>
              <a:buSzPct val="45000"/>
              <a:buFont typeface="Wingdings" charset="2"/>
              <a:buChar char=""/>
            </a:pPr>
            <a:r>
              <a:rPr lang="fr-FR" sz="2000" b="0" strike="noStrike" spc="-1">
                <a:latin typeface="Arial"/>
              </a:rPr>
              <a:t>Sixième niveau de plan</a:t>
            </a:r>
          </a:p>
          <a:p>
            <a:pPr marL="3024000" lvl="6" indent="-216000">
              <a:spcBef>
                <a:spcPts val="283"/>
              </a:spcBef>
              <a:buClr>
                <a:srgbClr val="000000"/>
              </a:buClr>
              <a:buSzPct val="45000"/>
              <a:buFont typeface="Wingdings" charset="2"/>
              <a:buChar char=""/>
            </a:pPr>
            <a:r>
              <a:rPr lang="fr-FR" sz="2000" b="0" strike="noStrike" spc="-1">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www.accord-nwp.org/IMG/pdf/accord-nl1.pdf" TargetMode="External"/><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Rectangle: Rounded Corners 31"/>
          <p:cNvSpPr/>
          <p:nvPr/>
        </p:nvSpPr>
        <p:spPr>
          <a:xfrm>
            <a:off x="641520" y="24349320"/>
            <a:ext cx="9088200" cy="13270320"/>
          </a:xfrm>
          <a:custGeom>
            <a:avLst/>
            <a:gdLst/>
            <a:ahLst/>
            <a:cxnLst/>
            <a:rect l="l" t="t" r="r" b="b"/>
            <a:pathLst>
              <a:path w="11303851" h="18928488">
                <a:moveTo>
                  <a:pt x="0" y="861009"/>
                </a:moveTo>
                <a:cubicBezTo>
                  <a:pt x="0" y="-175214"/>
                  <a:pt x="863173" y="13441"/>
                  <a:pt x="1899396" y="13441"/>
                </a:cubicBezTo>
                <a:lnTo>
                  <a:pt x="9404158" y="13441"/>
                </a:lnTo>
                <a:cubicBezTo>
                  <a:pt x="10440381" y="13441"/>
                  <a:pt x="11303851" y="-8769"/>
                  <a:pt x="11303851" y="1027454"/>
                </a:cubicBezTo>
                <a:cubicBezTo>
                  <a:pt x="11296036" y="6367811"/>
                  <a:pt x="11288220" y="11708169"/>
                  <a:pt x="11280405" y="17048526"/>
                </a:cubicBezTo>
                <a:cubicBezTo>
                  <a:pt x="11280405" y="18084749"/>
                  <a:pt x="11204310" y="18900791"/>
                  <a:pt x="10168087" y="18900791"/>
                </a:cubicBezTo>
                <a:lnTo>
                  <a:pt x="1899396" y="18924773"/>
                </a:lnTo>
                <a:cubicBezTo>
                  <a:pt x="-289137" y="18954953"/>
                  <a:pt x="61923" y="18841291"/>
                  <a:pt x="23149" y="17048526"/>
                </a:cubicBezTo>
                <a:cubicBezTo>
                  <a:pt x="15433" y="11652687"/>
                  <a:pt x="7716" y="6256848"/>
                  <a:pt x="0" y="861009"/>
                </a:cubicBezTo>
                <a:close/>
              </a:path>
            </a:pathLst>
          </a:cu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sp>
      <p:sp>
        <p:nvSpPr>
          <p:cNvPr id="144" name="Rectangle: Rounded Corners 31"/>
          <p:cNvSpPr/>
          <p:nvPr/>
        </p:nvSpPr>
        <p:spPr>
          <a:xfrm>
            <a:off x="10074960" y="29148480"/>
            <a:ext cx="20164320" cy="13331160"/>
          </a:xfrm>
          <a:custGeom>
            <a:avLst/>
            <a:gdLst/>
            <a:ahLst/>
            <a:cxnLst/>
            <a:rect l="l" t="t" r="r" b="b"/>
            <a:pathLst>
              <a:path w="11303851" h="18928488">
                <a:moveTo>
                  <a:pt x="0" y="861009"/>
                </a:moveTo>
                <a:cubicBezTo>
                  <a:pt x="0" y="-175214"/>
                  <a:pt x="863173" y="13441"/>
                  <a:pt x="1899396" y="13441"/>
                </a:cubicBezTo>
                <a:lnTo>
                  <a:pt x="9404158" y="13441"/>
                </a:lnTo>
                <a:cubicBezTo>
                  <a:pt x="10440381" y="13441"/>
                  <a:pt x="11303851" y="-8769"/>
                  <a:pt x="11303851" y="1027454"/>
                </a:cubicBezTo>
                <a:cubicBezTo>
                  <a:pt x="11296036" y="6367811"/>
                  <a:pt x="11288220" y="11708169"/>
                  <a:pt x="11280405" y="17048526"/>
                </a:cubicBezTo>
                <a:cubicBezTo>
                  <a:pt x="11280405" y="18084749"/>
                  <a:pt x="11204310" y="18900791"/>
                  <a:pt x="10168087" y="18900791"/>
                </a:cubicBezTo>
                <a:lnTo>
                  <a:pt x="1899396" y="18924773"/>
                </a:lnTo>
                <a:cubicBezTo>
                  <a:pt x="-289137" y="18954953"/>
                  <a:pt x="61923" y="18841291"/>
                  <a:pt x="23149" y="17048526"/>
                </a:cubicBezTo>
                <a:cubicBezTo>
                  <a:pt x="15433" y="11652687"/>
                  <a:pt x="7716" y="6256848"/>
                  <a:pt x="0" y="861009"/>
                </a:cubicBezTo>
                <a:close/>
              </a:path>
            </a:pathLst>
          </a:cu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sp>
      <p:sp>
        <p:nvSpPr>
          <p:cNvPr id="145" name="Rectangle: Rounded Corners 31"/>
          <p:cNvSpPr/>
          <p:nvPr/>
        </p:nvSpPr>
        <p:spPr>
          <a:xfrm>
            <a:off x="566640" y="12561480"/>
            <a:ext cx="9088200" cy="9664200"/>
          </a:xfrm>
          <a:custGeom>
            <a:avLst/>
            <a:gdLst/>
            <a:ahLst/>
            <a:cxnLst/>
            <a:rect l="l" t="t" r="r" b="b"/>
            <a:pathLst>
              <a:path w="11303851" h="18928488">
                <a:moveTo>
                  <a:pt x="0" y="861009"/>
                </a:moveTo>
                <a:cubicBezTo>
                  <a:pt x="0" y="-175214"/>
                  <a:pt x="863173" y="13441"/>
                  <a:pt x="1899396" y="13441"/>
                </a:cubicBezTo>
                <a:lnTo>
                  <a:pt x="9404158" y="13441"/>
                </a:lnTo>
                <a:cubicBezTo>
                  <a:pt x="10440381" y="13441"/>
                  <a:pt x="11303851" y="-8769"/>
                  <a:pt x="11303851" y="1027454"/>
                </a:cubicBezTo>
                <a:cubicBezTo>
                  <a:pt x="11296036" y="6367811"/>
                  <a:pt x="11288220" y="11708169"/>
                  <a:pt x="11280405" y="17048526"/>
                </a:cubicBezTo>
                <a:cubicBezTo>
                  <a:pt x="11280405" y="18084749"/>
                  <a:pt x="11204310" y="18900791"/>
                  <a:pt x="10168087" y="18900791"/>
                </a:cubicBezTo>
                <a:lnTo>
                  <a:pt x="1899396" y="18924773"/>
                </a:lnTo>
                <a:cubicBezTo>
                  <a:pt x="-289137" y="18954953"/>
                  <a:pt x="61923" y="18841291"/>
                  <a:pt x="23149" y="17048526"/>
                </a:cubicBezTo>
                <a:cubicBezTo>
                  <a:pt x="15433" y="11652687"/>
                  <a:pt x="7716" y="6256848"/>
                  <a:pt x="0" y="861009"/>
                </a:cubicBezTo>
                <a:close/>
              </a:path>
            </a:pathLst>
          </a:cu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sp>
      <p:sp>
        <p:nvSpPr>
          <p:cNvPr id="146" name="TextBox 3"/>
          <p:cNvSpPr/>
          <p:nvPr/>
        </p:nvSpPr>
        <p:spPr>
          <a:xfrm>
            <a:off x="870840" y="6631560"/>
            <a:ext cx="28758960" cy="3930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3600" b="1" strike="noStrike" spc="-1">
                <a:solidFill>
                  <a:srgbClr val="002060"/>
                </a:solidFill>
                <a:latin typeface="Times New Roman"/>
                <a:ea typeface="DejaVu Sans"/>
              </a:rPr>
              <a:t>ABSTRACT:</a:t>
            </a:r>
            <a:endParaRPr lang="fr-FR" sz="3600" b="0" strike="noStrike" spc="-1">
              <a:latin typeface="Arial"/>
            </a:endParaRPr>
          </a:p>
          <a:p>
            <a:pPr>
              <a:lnSpc>
                <a:spcPct val="100000"/>
              </a:lnSpc>
              <a:buNone/>
            </a:pPr>
            <a:r>
              <a:rPr lang="en-US" sz="3600" b="0" strike="noStrike" spc="-1">
                <a:solidFill>
                  <a:srgbClr val="000000"/>
                </a:solidFill>
                <a:latin typeface="Times New Roman"/>
                <a:ea typeface="DejaVu Sans"/>
              </a:rPr>
              <a:t>This study presents the incorporation of the double moment LIMA scheme into visibility calculations for foggy conditions, in addition to the existing acvisih scheme in AROME. Traditional visibility calculations rely on the Koschmieder formula, but research by Gultepe et al. (2007) suggests that considering both liquid water content (LWC) and droplet number concentration (Nd) can enhance visibility predictions. By utilizing the LIMA scheme and advancements in microphysical modeling, significant improvements in visibility forecasting, especially for warm fog, can be achieved.</a:t>
            </a:r>
            <a:endParaRPr lang="fr-FR" sz="3600" b="0" strike="noStrike" spc="-1">
              <a:latin typeface="Arial"/>
            </a:endParaRPr>
          </a:p>
          <a:p>
            <a:pPr algn="ctr">
              <a:lnSpc>
                <a:spcPct val="100000"/>
              </a:lnSpc>
              <a:buNone/>
            </a:pPr>
            <a:r>
              <a:rPr lang="en-US" sz="3600" b="0" strike="noStrike" spc="-1">
                <a:solidFill>
                  <a:srgbClr val="000000"/>
                </a:solidFill>
                <a:latin typeface="Times New Roman"/>
                <a:ea typeface="DejaVu Sans"/>
              </a:rPr>
              <a:t>To assess this contribution, a selected fog event occurring between January 1st and January 3rd, 2022, is examined. This event was characterized by exceptional and persistent fog along the coastal regions from the Northwest to the North-central areas of Algeria.</a:t>
            </a:r>
            <a:endParaRPr lang="fr-FR" sz="3600" b="0" strike="noStrike" spc="-1">
              <a:latin typeface="Arial"/>
            </a:endParaRPr>
          </a:p>
        </p:txBody>
      </p:sp>
      <p:sp>
        <p:nvSpPr>
          <p:cNvPr id="147" name="Rectangle: Rounded Corners 4"/>
          <p:cNvSpPr/>
          <p:nvPr/>
        </p:nvSpPr>
        <p:spPr>
          <a:xfrm>
            <a:off x="870840" y="1306440"/>
            <a:ext cx="28758960" cy="5072400"/>
          </a:xfrm>
          <a:prstGeom prst="roundRect">
            <a:avLst>
              <a:gd name="adj" fmla="val 16667"/>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sp>
      <p:sp>
        <p:nvSpPr>
          <p:cNvPr id="148" name="TextBox 5"/>
          <p:cNvSpPr/>
          <p:nvPr/>
        </p:nvSpPr>
        <p:spPr>
          <a:xfrm>
            <a:off x="-60840" y="246240"/>
            <a:ext cx="30383640" cy="759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US" sz="4400" b="1" i="1" strike="noStrike" spc="-1">
                <a:solidFill>
                  <a:srgbClr val="000000"/>
                </a:solidFill>
                <a:latin typeface="Times New Roman"/>
                <a:ea typeface="DejaVu Sans"/>
              </a:rPr>
              <a:t>4th All Staff Workshop, 15-19 April 2024, Norrköping &amp; hybrid</a:t>
            </a:r>
            <a:endParaRPr lang="fr-FR" sz="4400" b="0" strike="noStrike" spc="-1">
              <a:latin typeface="Arial"/>
            </a:endParaRPr>
          </a:p>
        </p:txBody>
      </p:sp>
      <p:sp>
        <p:nvSpPr>
          <p:cNvPr id="149" name="TextBox 6"/>
          <p:cNvSpPr/>
          <p:nvPr/>
        </p:nvSpPr>
        <p:spPr>
          <a:xfrm>
            <a:off x="870840" y="1546200"/>
            <a:ext cx="28758960" cy="1674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US" sz="10400" b="1" i="1" strike="noStrike" spc="-1">
                <a:solidFill>
                  <a:srgbClr val="000080"/>
                </a:solidFill>
                <a:latin typeface="Times New Roman"/>
                <a:ea typeface="DejaVu Sans"/>
              </a:rPr>
              <a:t>Evaluation of visibility with LIMA</a:t>
            </a:r>
            <a:endParaRPr lang="fr-FR" sz="10400" b="0" strike="noStrike" spc="-1">
              <a:latin typeface="Arial"/>
            </a:endParaRPr>
          </a:p>
        </p:txBody>
      </p:sp>
      <p:pic>
        <p:nvPicPr>
          <p:cNvPr id="150" name="Picture 7"/>
          <p:cNvPicPr/>
          <p:nvPr/>
        </p:nvPicPr>
        <p:blipFill>
          <a:blip r:embed="rId2"/>
          <a:stretch/>
        </p:blipFill>
        <p:spPr>
          <a:xfrm>
            <a:off x="1261800" y="2177640"/>
            <a:ext cx="3388680" cy="3388680"/>
          </a:xfrm>
          <a:prstGeom prst="rect">
            <a:avLst/>
          </a:prstGeom>
          <a:ln w="0">
            <a:noFill/>
          </a:ln>
        </p:spPr>
      </p:pic>
      <p:sp>
        <p:nvSpPr>
          <p:cNvPr id="151" name="TextBox 8"/>
          <p:cNvSpPr/>
          <p:nvPr/>
        </p:nvSpPr>
        <p:spPr>
          <a:xfrm>
            <a:off x="7957440" y="3444480"/>
            <a:ext cx="15195240" cy="2527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fr-FR" sz="4000" b="1" i="1" strike="noStrike" spc="-1">
                <a:solidFill>
                  <a:srgbClr val="000000"/>
                </a:solidFill>
                <a:latin typeface="Times New Roman"/>
                <a:ea typeface="DejaVu Sans"/>
              </a:rPr>
              <a:t>Walid CHIKHI  </a:t>
            </a:r>
            <a:endParaRPr lang="fr-FR" sz="4000" b="0" strike="noStrike" spc="-1">
              <a:latin typeface="Arial"/>
            </a:endParaRPr>
          </a:p>
          <a:p>
            <a:pPr algn="ctr">
              <a:lnSpc>
                <a:spcPct val="100000"/>
              </a:lnSpc>
              <a:buNone/>
            </a:pPr>
            <a:r>
              <a:rPr lang="fr-FR" sz="4000" b="1" i="1" strike="noStrike" spc="-1">
                <a:solidFill>
                  <a:srgbClr val="000000"/>
                </a:solidFill>
                <a:latin typeface="Times New Roman"/>
                <a:ea typeface="DejaVu Sans"/>
              </a:rPr>
              <a:t>E-mail : w.chikhi@meteo.dz</a:t>
            </a:r>
            <a:endParaRPr lang="fr-FR" sz="4000" b="0" strike="noStrike" spc="-1">
              <a:latin typeface="Arial"/>
            </a:endParaRPr>
          </a:p>
          <a:p>
            <a:pPr algn="ctr">
              <a:lnSpc>
                <a:spcPct val="100000"/>
              </a:lnSpc>
              <a:buNone/>
            </a:pPr>
            <a:r>
              <a:rPr lang="en-US" sz="4000" b="0" strike="noStrike" spc="-1">
                <a:solidFill>
                  <a:srgbClr val="000000"/>
                </a:solidFill>
                <a:latin typeface="Times New Roman"/>
                <a:ea typeface="DejaVu Sans"/>
              </a:rPr>
              <a:t>National Office of Meteorology - ALGERIA</a:t>
            </a:r>
            <a:endParaRPr lang="fr-FR" sz="4000" b="0" strike="noStrike" spc="-1">
              <a:latin typeface="Arial"/>
            </a:endParaRPr>
          </a:p>
          <a:p>
            <a:pPr algn="ctr">
              <a:lnSpc>
                <a:spcPct val="100000"/>
              </a:lnSpc>
              <a:buNone/>
            </a:pPr>
            <a:r>
              <a:rPr lang="en-US" sz="4000" b="0" strike="noStrike" spc="-1">
                <a:solidFill>
                  <a:srgbClr val="000000"/>
                </a:solidFill>
                <a:latin typeface="Times New Roman"/>
                <a:ea typeface="DejaVu Sans"/>
              </a:rPr>
              <a:t>Department of Numerical Weather Prediction</a:t>
            </a:r>
            <a:endParaRPr lang="fr-FR" sz="4000" b="0" strike="noStrike" spc="-1">
              <a:latin typeface="Arial"/>
            </a:endParaRPr>
          </a:p>
        </p:txBody>
      </p:sp>
      <p:pic>
        <p:nvPicPr>
          <p:cNvPr id="152" name="Picture 9"/>
          <p:cNvPicPr/>
          <p:nvPr/>
        </p:nvPicPr>
        <p:blipFill>
          <a:blip r:embed="rId2"/>
          <a:stretch/>
        </p:blipFill>
        <p:spPr>
          <a:xfrm>
            <a:off x="25733160" y="2127240"/>
            <a:ext cx="3388680" cy="3388680"/>
          </a:xfrm>
          <a:prstGeom prst="rect">
            <a:avLst/>
          </a:prstGeom>
          <a:ln w="0">
            <a:noFill/>
          </a:ln>
        </p:spPr>
      </p:pic>
      <p:sp>
        <p:nvSpPr>
          <p:cNvPr id="153" name="Rectangle: Rounded Corners 10"/>
          <p:cNvSpPr/>
          <p:nvPr/>
        </p:nvSpPr>
        <p:spPr>
          <a:xfrm>
            <a:off x="566640" y="10816560"/>
            <a:ext cx="9088200" cy="1389600"/>
          </a:xfrm>
          <a:prstGeom prst="roundRect">
            <a:avLst>
              <a:gd name="adj" fmla="val 16667"/>
            </a:avLst>
          </a:prstGeom>
          <a:solidFill>
            <a:srgbClr val="000080"/>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en-GB" sz="4400" b="0" strike="noStrike" spc="-1">
                <a:solidFill>
                  <a:srgbClr val="FFFFFF"/>
                </a:solidFill>
                <a:latin typeface="Times New Roman"/>
                <a:ea typeface="DejaVu Sans"/>
              </a:rPr>
              <a:t>1. Background &amp; Motivation</a:t>
            </a:r>
            <a:endParaRPr lang="fr-FR" sz="4400" b="0" strike="noStrike" spc="-1">
              <a:latin typeface="Arial"/>
            </a:endParaRPr>
          </a:p>
        </p:txBody>
      </p:sp>
      <p:sp>
        <p:nvSpPr>
          <p:cNvPr id="154" name="TextBox 12"/>
          <p:cNvSpPr/>
          <p:nvPr/>
        </p:nvSpPr>
        <p:spPr>
          <a:xfrm>
            <a:off x="754560" y="12754800"/>
            <a:ext cx="8744400" cy="7770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buNone/>
            </a:pPr>
            <a:r>
              <a:rPr lang="en-US" sz="3600" b="0" i="1" strike="noStrike" spc="-1">
                <a:solidFill>
                  <a:srgbClr val="000000"/>
                </a:solidFill>
                <a:latin typeface="Times New Roman"/>
                <a:ea typeface="DejaVu Sans"/>
              </a:rPr>
              <a:t>AROME successfully forecasts low cloud fog, as demonstrated in a study published in the </a:t>
            </a:r>
            <a:r>
              <a:rPr lang="en-US" sz="3600" b="0" i="1" u="sng" strike="noStrike" spc="-1">
                <a:solidFill>
                  <a:srgbClr val="0563C1"/>
                </a:solidFill>
                <a:uFillTx/>
                <a:latin typeface="Times New Roman"/>
                <a:ea typeface="DejaVu Sans"/>
                <a:hlinkClick r:id="rId3"/>
              </a:rPr>
              <a:t>ACCORD Newsletter No.1</a:t>
            </a:r>
            <a:r>
              <a:rPr lang="en-US" sz="3600" b="0" i="1" strike="noStrike" spc="-1">
                <a:solidFill>
                  <a:srgbClr val="000000"/>
                </a:solidFill>
                <a:latin typeface="Times New Roman"/>
                <a:ea typeface="DejaVu Sans"/>
              </a:rPr>
              <a:t>.(1) However, there's potential to enhance its accuracy. This research explores the LIMA scheme, which considers both liquid water content and concentration. Current methods based on the Koschmieder formula have limitations. Previous research (Gultepe et al , 2007)(2). suggests that including both LWC (Liquid Water Content) and Nd (Number Concentrations of Liquid Water Droplets) can significantly improve visibility predictions up to 20 –50% , especially for warm fog : </a:t>
            </a:r>
            <a:endParaRPr lang="fr-FR" sz="3600" b="0" strike="noStrike" spc="-1">
              <a:latin typeface="Arial"/>
            </a:endParaRPr>
          </a:p>
        </p:txBody>
      </p:sp>
      <p:sp>
        <p:nvSpPr>
          <p:cNvPr id="155" name="Rectangle: Rounded Corners 13"/>
          <p:cNvSpPr/>
          <p:nvPr/>
        </p:nvSpPr>
        <p:spPr>
          <a:xfrm>
            <a:off x="10121760" y="10809000"/>
            <a:ext cx="19911600" cy="1389600"/>
          </a:xfrm>
          <a:prstGeom prst="roundRect">
            <a:avLst>
              <a:gd name="adj" fmla="val 16667"/>
            </a:avLst>
          </a:prstGeom>
          <a:solidFill>
            <a:srgbClr val="000080"/>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en-GB" sz="4400" b="0" strike="noStrike" spc="-1">
                <a:solidFill>
                  <a:srgbClr val="FFFFFF"/>
                </a:solidFill>
                <a:latin typeface="Times New Roman"/>
                <a:ea typeface="DejaVu Sans"/>
              </a:rPr>
              <a:t>2. AROME Configurations &amp; Pre-Processing  </a:t>
            </a:r>
            <a:endParaRPr lang="fr-FR" sz="4400" b="0" strike="noStrike" spc="-1">
              <a:latin typeface="Arial"/>
            </a:endParaRPr>
          </a:p>
        </p:txBody>
      </p:sp>
      <mc:AlternateContent xmlns:mc="http://schemas.openxmlformats.org/markup-compatibility/2006" xmlns:a14="http://schemas.microsoft.com/office/drawing/2010/main">
        <mc:Choice Requires="a14">
          <p:sp>
            <p:nvSpPr>
              <p:cNvPr id="156" name="TextBox 18"/>
              <p:cNvSpPr txBox="1"/>
              <p:nvPr/>
            </p:nvSpPr>
            <p:spPr>
              <a:xfrm>
                <a:off x="2274120" y="20760480"/>
                <a:ext cx="5828040" cy="1249920"/>
              </a:xfrm>
              <a:prstGeom prst="rect">
                <a:avLst/>
              </a:prstGeom>
            </p:spPr>
            <p:txBody>
              <a:bodyPr/>
              <a:lstStyle/>
              <a:p>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𝑣𝑖𝑠</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1,13</m:t>
                          </m:r>
                        </m:num>
                        <m:den>
                          <m:sSup>
                            <m:sSupPr>
                              <m:ctrlPr>
                                <a:rPr i="1">
                                  <a:latin typeface="Cambria Math" panose="02040503050406030204" pitchFamily="18" charset="0"/>
                                </a:rPr>
                              </m:ctrlPr>
                            </m:sSupPr>
                            <m:e>
                              <m:d>
                                <m:dPr>
                                  <m:ctrlPr>
                                    <a:rPr i="1">
                                      <a:latin typeface="Cambria Math" panose="02040503050406030204" pitchFamily="18" charset="0"/>
                                    </a:rPr>
                                  </m:ctrlPr>
                                </m:dPr>
                                <m:e>
                                  <m:r>
                                    <a:rPr>
                                      <a:latin typeface="Cambria Math" panose="02040503050406030204" pitchFamily="18" charset="0"/>
                                    </a:rPr>
                                    <m:t>𝑁𝑑</m:t>
                                  </m:r>
                                  <m:r>
                                    <a:rPr>
                                      <a:latin typeface="Cambria Math" panose="02040503050406030204" pitchFamily="18" charset="0"/>
                                    </a:rPr>
                                    <m:t>∗</m:t>
                                  </m:r>
                                  <m:r>
                                    <a:rPr>
                                      <a:latin typeface="Cambria Math" panose="02040503050406030204" pitchFamily="18" charset="0"/>
                                    </a:rPr>
                                    <m:t>𝐿𝑊𝐶</m:t>
                                  </m:r>
                                </m:e>
                              </m:d>
                            </m:e>
                            <m:sup>
                              <m:r>
                                <a:rPr>
                                  <a:latin typeface="Cambria Math" panose="02040503050406030204" pitchFamily="18" charset="0"/>
                                </a:rPr>
                                <m:t>0.51</m:t>
                              </m:r>
                            </m:sup>
                          </m:sSup>
                        </m:den>
                      </m:f>
                    </m:oMath>
                  </m:oMathPara>
                </a14:m>
                <a:endParaRPr/>
              </a:p>
            </p:txBody>
          </p:sp>
        </mc:Choice>
        <mc:Fallback xmlns:p15="http://schemas.microsoft.com/office/powerpoint/2012/main" xmlns:p14="http://schemas.microsoft.com/office/powerpoint/2010/main" xmlns=""/>
      </mc:AlternateContent>
      <p:sp>
        <p:nvSpPr>
          <p:cNvPr id="157" name="Rectangle: Rounded Corners 31"/>
          <p:cNvSpPr/>
          <p:nvPr/>
        </p:nvSpPr>
        <p:spPr>
          <a:xfrm>
            <a:off x="10074960" y="12298680"/>
            <a:ext cx="19958760" cy="14450760"/>
          </a:xfrm>
          <a:custGeom>
            <a:avLst/>
            <a:gdLst/>
            <a:ahLst/>
            <a:cxnLst/>
            <a:rect l="l" t="t" r="r" b="b"/>
            <a:pathLst>
              <a:path w="11330471" h="18941978">
                <a:moveTo>
                  <a:pt x="0" y="874500"/>
                </a:moveTo>
                <a:cubicBezTo>
                  <a:pt x="0" y="-161723"/>
                  <a:pt x="876483" y="26931"/>
                  <a:pt x="1912706" y="26931"/>
                </a:cubicBezTo>
                <a:lnTo>
                  <a:pt x="9417468" y="26931"/>
                </a:lnTo>
                <a:cubicBezTo>
                  <a:pt x="10453691" y="26931"/>
                  <a:pt x="11330471" y="-224860"/>
                  <a:pt x="11330471" y="811363"/>
                </a:cubicBezTo>
                <a:cubicBezTo>
                  <a:pt x="11322656" y="6151720"/>
                  <a:pt x="11314839" y="12155433"/>
                  <a:pt x="11307024" y="17495790"/>
                </a:cubicBezTo>
                <a:cubicBezTo>
                  <a:pt x="11307024" y="18532013"/>
                  <a:pt x="11537050" y="18883297"/>
                  <a:pt x="10500827" y="18883297"/>
                </a:cubicBezTo>
                <a:lnTo>
                  <a:pt x="1912706" y="18938263"/>
                </a:lnTo>
                <a:cubicBezTo>
                  <a:pt x="-275827" y="18968443"/>
                  <a:pt x="75233" y="18854781"/>
                  <a:pt x="36459" y="17062016"/>
                </a:cubicBezTo>
                <a:cubicBezTo>
                  <a:pt x="28743" y="11666177"/>
                  <a:pt x="7716" y="6270339"/>
                  <a:pt x="0" y="874500"/>
                </a:cubicBezTo>
                <a:close/>
              </a:path>
            </a:pathLst>
          </a:cu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sp>
      <p:sp>
        <p:nvSpPr>
          <p:cNvPr id="158" name="Rectangle: Rounded Corners 31"/>
          <p:cNvSpPr/>
          <p:nvPr/>
        </p:nvSpPr>
        <p:spPr>
          <a:xfrm>
            <a:off x="47461680" y="14198040"/>
            <a:ext cx="11302920" cy="18270360"/>
          </a:xfrm>
          <a:custGeom>
            <a:avLst/>
            <a:gdLst/>
            <a:ahLst/>
            <a:cxnLst/>
            <a:rect l="l" t="t" r="r" b="b"/>
            <a:pathLst>
              <a:path w="11303851" h="18928488">
                <a:moveTo>
                  <a:pt x="0" y="861009"/>
                </a:moveTo>
                <a:cubicBezTo>
                  <a:pt x="0" y="-175214"/>
                  <a:pt x="863173" y="13441"/>
                  <a:pt x="1899396" y="13441"/>
                </a:cubicBezTo>
                <a:lnTo>
                  <a:pt x="9404158" y="13441"/>
                </a:lnTo>
                <a:cubicBezTo>
                  <a:pt x="10440381" y="13441"/>
                  <a:pt x="11303851" y="-8769"/>
                  <a:pt x="11303851" y="1027454"/>
                </a:cubicBezTo>
                <a:cubicBezTo>
                  <a:pt x="11296036" y="6367811"/>
                  <a:pt x="11288220" y="11708169"/>
                  <a:pt x="11280405" y="17048526"/>
                </a:cubicBezTo>
                <a:cubicBezTo>
                  <a:pt x="11280405" y="18084749"/>
                  <a:pt x="11204310" y="18900791"/>
                  <a:pt x="10168087" y="18900791"/>
                </a:cubicBezTo>
                <a:lnTo>
                  <a:pt x="1899396" y="18924773"/>
                </a:lnTo>
                <a:cubicBezTo>
                  <a:pt x="-289137" y="18954953"/>
                  <a:pt x="61923" y="18841291"/>
                  <a:pt x="23149" y="17048526"/>
                </a:cubicBezTo>
                <a:cubicBezTo>
                  <a:pt x="15433" y="11652687"/>
                  <a:pt x="7716" y="6256848"/>
                  <a:pt x="0" y="861009"/>
                </a:cubicBezTo>
                <a:close/>
              </a:path>
            </a:pathLst>
          </a:cu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sp>
      <p:graphicFrame>
        <p:nvGraphicFramePr>
          <p:cNvPr id="159" name="Table 29"/>
          <p:cNvGraphicFramePr/>
          <p:nvPr/>
        </p:nvGraphicFramePr>
        <p:xfrm>
          <a:off x="10530000" y="13462920"/>
          <a:ext cx="7287120" cy="7988760"/>
        </p:xfrm>
        <a:graphic>
          <a:graphicData uri="http://schemas.openxmlformats.org/drawingml/2006/table">
            <a:tbl>
              <a:tblPr/>
              <a:tblGrid>
                <a:gridCol w="3329280">
                  <a:extLst>
                    <a:ext uri="{9D8B030D-6E8A-4147-A177-3AD203B41FA5}">
                      <a16:colId xmlns:a16="http://schemas.microsoft.com/office/drawing/2014/main" val="20000"/>
                    </a:ext>
                  </a:extLst>
                </a:gridCol>
                <a:gridCol w="1436400">
                  <a:extLst>
                    <a:ext uri="{9D8B030D-6E8A-4147-A177-3AD203B41FA5}">
                      <a16:colId xmlns:a16="http://schemas.microsoft.com/office/drawing/2014/main" val="20001"/>
                    </a:ext>
                  </a:extLst>
                </a:gridCol>
                <a:gridCol w="2521440">
                  <a:extLst>
                    <a:ext uri="{9D8B030D-6E8A-4147-A177-3AD203B41FA5}">
                      <a16:colId xmlns:a16="http://schemas.microsoft.com/office/drawing/2014/main" val="20002"/>
                    </a:ext>
                  </a:extLst>
                </a:gridCol>
              </a:tblGrid>
              <a:tr h="630720">
                <a:tc>
                  <a:txBody>
                    <a:bodyPr/>
                    <a:lstStyle/>
                    <a:p>
                      <a:pPr algn="ctr">
                        <a:lnSpc>
                          <a:spcPct val="115000"/>
                        </a:lnSpc>
                        <a:buNone/>
                      </a:pPr>
                      <a:r>
                        <a:rPr lang="en-US" sz="3200" b="1" i="1" strike="noStrike" spc="-1">
                          <a:solidFill>
                            <a:srgbClr val="000000"/>
                          </a:solidFill>
                          <a:latin typeface="Times New Roman"/>
                        </a:rPr>
                        <a:t>Characteristics</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gridSpan="2">
                  <a:txBody>
                    <a:bodyPr/>
                    <a:lstStyle/>
                    <a:p>
                      <a:pPr algn="ctr">
                        <a:lnSpc>
                          <a:spcPct val="115000"/>
                        </a:lnSpc>
                        <a:buNone/>
                      </a:pPr>
                      <a:r>
                        <a:rPr lang="en-US" sz="3200" b="0" strike="noStrike" spc="-1">
                          <a:solidFill>
                            <a:srgbClr val="000000"/>
                          </a:solidFill>
                          <a:latin typeface="Times New Roman"/>
                        </a:rPr>
                        <a:t>AROME 1.3</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hMerge="1">
                  <a:txBody>
                    <a:bodyPr/>
                    <a:lstStyle/>
                    <a:p>
                      <a:endParaRPr lang="fr-F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630720">
                <a:tc>
                  <a:txBody>
                    <a:bodyPr/>
                    <a:lstStyle/>
                    <a:p>
                      <a:pPr algn="ctr">
                        <a:lnSpc>
                          <a:spcPct val="115000"/>
                        </a:lnSpc>
                        <a:buNone/>
                      </a:pPr>
                      <a:r>
                        <a:rPr lang="en-US" sz="3200" b="1" i="1" strike="noStrike" spc="-1">
                          <a:solidFill>
                            <a:srgbClr val="000000"/>
                          </a:solidFill>
                          <a:latin typeface="Times New Roman"/>
                        </a:rPr>
                        <a:t>Cycle</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gridSpan="2">
                  <a:txBody>
                    <a:bodyPr/>
                    <a:lstStyle/>
                    <a:p>
                      <a:pPr algn="ctr">
                        <a:lnSpc>
                          <a:spcPct val="115000"/>
                        </a:lnSpc>
                        <a:buNone/>
                      </a:pPr>
                      <a:r>
                        <a:rPr lang="en-US" sz="3200" b="0" strike="noStrike" spc="-1">
                          <a:solidFill>
                            <a:srgbClr val="000000"/>
                          </a:solidFill>
                          <a:latin typeface="Times New Roman"/>
                        </a:rPr>
                        <a:t>CY48T1</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hMerge="1">
                  <a:txBody>
                    <a:bodyPr/>
                    <a:lstStyle/>
                    <a:p>
                      <a:endParaRPr lang="fr-F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630720">
                <a:tc>
                  <a:txBody>
                    <a:bodyPr/>
                    <a:lstStyle/>
                    <a:p>
                      <a:pPr algn="ctr">
                        <a:lnSpc>
                          <a:spcPct val="115000"/>
                        </a:lnSpc>
                        <a:buNone/>
                      </a:pPr>
                      <a:r>
                        <a:rPr lang="en-US" sz="3200" b="1" i="1" strike="noStrike" spc="-1">
                          <a:solidFill>
                            <a:srgbClr val="000000"/>
                          </a:solidFill>
                          <a:latin typeface="Times New Roman"/>
                        </a:rPr>
                        <a:t>Initial conditions</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gridSpan="2">
                  <a:txBody>
                    <a:bodyPr/>
                    <a:lstStyle/>
                    <a:p>
                      <a:pPr algn="ctr">
                        <a:lnSpc>
                          <a:spcPct val="115000"/>
                        </a:lnSpc>
                        <a:buNone/>
                      </a:pPr>
                      <a:r>
                        <a:rPr lang="en-US" sz="3200" b="0" strike="noStrike" spc="-1">
                          <a:solidFill>
                            <a:srgbClr val="000000"/>
                          </a:solidFill>
                          <a:latin typeface="Times New Roman"/>
                        </a:rPr>
                        <a:t>ARPÉGE</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hMerge="1">
                  <a:txBody>
                    <a:bodyPr/>
                    <a:lstStyle/>
                    <a:p>
                      <a:endParaRPr lang="fr-F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1191240">
                <a:tc>
                  <a:txBody>
                    <a:bodyPr/>
                    <a:lstStyle/>
                    <a:p>
                      <a:pPr algn="ctr">
                        <a:lnSpc>
                          <a:spcPct val="115000"/>
                        </a:lnSpc>
                        <a:buNone/>
                      </a:pPr>
                      <a:r>
                        <a:rPr lang="en-US" sz="3200" b="1" i="1" strike="noStrike" spc="-1">
                          <a:solidFill>
                            <a:srgbClr val="000000"/>
                          </a:solidFill>
                          <a:latin typeface="Times New Roman"/>
                        </a:rPr>
                        <a:t>Coupling frequency</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gridSpan="2">
                  <a:txBody>
                    <a:bodyPr/>
                    <a:lstStyle/>
                    <a:p>
                      <a:pPr algn="ctr">
                        <a:lnSpc>
                          <a:spcPct val="115000"/>
                        </a:lnSpc>
                        <a:buNone/>
                      </a:pPr>
                      <a:r>
                        <a:rPr lang="en-US" sz="3200" b="0" strike="noStrike" spc="-1">
                          <a:solidFill>
                            <a:srgbClr val="000000"/>
                          </a:solidFill>
                          <a:latin typeface="Times New Roman"/>
                        </a:rPr>
                        <a:t>3H</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hMerge="1">
                  <a:txBody>
                    <a:bodyPr/>
                    <a:lstStyle/>
                    <a:p>
                      <a:endParaRPr lang="fr-F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3"/>
                  </a:ext>
                </a:extLst>
              </a:tr>
              <a:tr h="1191240">
                <a:tc>
                  <a:txBody>
                    <a:bodyPr/>
                    <a:lstStyle/>
                    <a:p>
                      <a:pPr algn="ctr">
                        <a:lnSpc>
                          <a:spcPct val="115000"/>
                        </a:lnSpc>
                        <a:buNone/>
                      </a:pPr>
                      <a:r>
                        <a:rPr lang="en-US" sz="3200" b="1" i="1" strike="noStrike" spc="-1">
                          <a:solidFill>
                            <a:srgbClr val="000000"/>
                          </a:solidFill>
                          <a:latin typeface="Times New Roman"/>
                        </a:rPr>
                        <a:t>Horizontal resolution</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gridSpan="2">
                  <a:txBody>
                    <a:bodyPr/>
                    <a:lstStyle/>
                    <a:p>
                      <a:pPr algn="ctr">
                        <a:lnSpc>
                          <a:spcPct val="115000"/>
                        </a:lnSpc>
                        <a:buNone/>
                      </a:pPr>
                      <a:r>
                        <a:rPr lang="en-US" sz="3200" b="0" strike="noStrike" spc="-1">
                          <a:solidFill>
                            <a:srgbClr val="000000"/>
                          </a:solidFill>
                          <a:latin typeface="Times New Roman"/>
                        </a:rPr>
                        <a:t>1.3 km</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hMerge="1">
                  <a:txBody>
                    <a:bodyPr/>
                    <a:lstStyle/>
                    <a:p>
                      <a:endParaRPr lang="fr-F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630720">
                <a:tc>
                  <a:txBody>
                    <a:bodyPr/>
                    <a:lstStyle/>
                    <a:p>
                      <a:pPr algn="ctr">
                        <a:lnSpc>
                          <a:spcPct val="115000"/>
                        </a:lnSpc>
                        <a:buNone/>
                      </a:pPr>
                      <a:r>
                        <a:rPr lang="en-US" sz="3200" b="1" i="1" strike="noStrike" spc="-1">
                          <a:solidFill>
                            <a:srgbClr val="000000"/>
                          </a:solidFill>
                          <a:latin typeface="Times New Roman"/>
                        </a:rPr>
                        <a:t>levels</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gridSpan="2">
                  <a:txBody>
                    <a:bodyPr/>
                    <a:lstStyle/>
                    <a:p>
                      <a:pPr algn="ctr">
                        <a:lnSpc>
                          <a:spcPct val="115000"/>
                        </a:lnSpc>
                        <a:buNone/>
                      </a:pPr>
                      <a:r>
                        <a:rPr lang="en-US" sz="3200" b="0" strike="noStrike" spc="-1">
                          <a:solidFill>
                            <a:srgbClr val="000000"/>
                          </a:solidFill>
                          <a:latin typeface="Times New Roman"/>
                        </a:rPr>
                        <a:t>90 levels</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hMerge="1">
                  <a:txBody>
                    <a:bodyPr/>
                    <a:lstStyle/>
                    <a:p>
                      <a:endParaRPr lang="fr-F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5"/>
                  </a:ext>
                </a:extLst>
              </a:tr>
              <a:tr h="1191240">
                <a:tc>
                  <a:txBody>
                    <a:bodyPr/>
                    <a:lstStyle/>
                    <a:p>
                      <a:pPr algn="ctr">
                        <a:lnSpc>
                          <a:spcPct val="115000"/>
                        </a:lnSpc>
                        <a:buNone/>
                      </a:pPr>
                      <a:r>
                        <a:rPr lang="en-US" sz="3200" b="1" i="1" strike="noStrike" spc="-1">
                          <a:solidFill>
                            <a:srgbClr val="000000"/>
                          </a:solidFill>
                          <a:latin typeface="Times New Roman"/>
                        </a:rPr>
                        <a:t>First level from ground</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gridSpan="2">
                  <a:txBody>
                    <a:bodyPr/>
                    <a:lstStyle/>
                    <a:p>
                      <a:pPr algn="ctr">
                        <a:lnSpc>
                          <a:spcPct val="115000"/>
                        </a:lnSpc>
                        <a:buNone/>
                      </a:pPr>
                      <a:r>
                        <a:rPr lang="en-US" sz="3200" b="0" strike="noStrike" spc="-1">
                          <a:solidFill>
                            <a:srgbClr val="000000"/>
                          </a:solidFill>
                          <a:latin typeface="Times New Roman"/>
                        </a:rPr>
                        <a:t>5 meters</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hMerge="1">
                  <a:txBody>
                    <a:bodyPr/>
                    <a:lstStyle/>
                    <a:p>
                      <a:endParaRPr lang="fr-F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630720">
                <a:tc>
                  <a:txBody>
                    <a:bodyPr/>
                    <a:lstStyle/>
                    <a:p>
                      <a:pPr algn="ctr">
                        <a:lnSpc>
                          <a:spcPct val="115000"/>
                        </a:lnSpc>
                        <a:buNone/>
                      </a:pPr>
                      <a:r>
                        <a:rPr lang="en-US" sz="3200" b="1" i="1" strike="noStrike" spc="-1">
                          <a:solidFill>
                            <a:srgbClr val="000000"/>
                          </a:solidFill>
                          <a:latin typeface="Times New Roman"/>
                        </a:rPr>
                        <a:t>Time-step</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gridSpan="2">
                  <a:txBody>
                    <a:bodyPr/>
                    <a:lstStyle/>
                    <a:p>
                      <a:pPr algn="ctr">
                        <a:lnSpc>
                          <a:spcPct val="115000"/>
                        </a:lnSpc>
                        <a:buNone/>
                      </a:pPr>
                      <a:r>
                        <a:rPr lang="en-US" sz="3200" b="0" strike="noStrike" spc="-1">
                          <a:solidFill>
                            <a:srgbClr val="000000"/>
                          </a:solidFill>
                          <a:latin typeface="Times New Roman"/>
                        </a:rPr>
                        <a:t>45 s</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hMerge="1">
                  <a:txBody>
                    <a:bodyPr/>
                    <a:lstStyle/>
                    <a:p>
                      <a:endParaRPr lang="fr-F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7"/>
                  </a:ext>
                </a:extLst>
              </a:tr>
              <a:tr h="630720">
                <a:tc rowSpan="2">
                  <a:txBody>
                    <a:bodyPr/>
                    <a:lstStyle/>
                    <a:p>
                      <a:pPr algn="ctr">
                        <a:lnSpc>
                          <a:spcPct val="115000"/>
                        </a:lnSpc>
                        <a:buNone/>
                      </a:pPr>
                      <a:r>
                        <a:rPr lang="en-US" sz="3200" b="1" i="1" strike="noStrike" spc="-1">
                          <a:solidFill>
                            <a:srgbClr val="000000"/>
                          </a:solidFill>
                          <a:latin typeface="Times New Roman"/>
                        </a:rPr>
                        <a:t>Grid</a:t>
                      </a:r>
                      <a:endParaRPr lang="fr-FR" sz="3200" b="0" strike="noStrike" spc="-1">
                        <a:latin typeface="Arial"/>
                      </a:endParaRPr>
                    </a:p>
                  </a:txBody>
                  <a:tcPr marL="34920" marR="34920" anchor="ctr">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a:txBody>
                    <a:bodyPr/>
                    <a:lstStyle/>
                    <a:p>
                      <a:pPr algn="ctr">
                        <a:lnSpc>
                          <a:spcPct val="115000"/>
                        </a:lnSpc>
                        <a:buNone/>
                      </a:pPr>
                      <a:r>
                        <a:rPr lang="en-US" sz="3200" b="0" strike="noStrike" spc="-1">
                          <a:solidFill>
                            <a:srgbClr val="000000"/>
                          </a:solidFill>
                          <a:latin typeface="Times New Roman"/>
                        </a:rPr>
                        <a:t>C+I</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a:txBody>
                    <a:bodyPr/>
                    <a:lstStyle/>
                    <a:p>
                      <a:pPr algn="ctr">
                        <a:lnSpc>
                          <a:spcPct val="115000"/>
                        </a:lnSpc>
                        <a:buNone/>
                      </a:pPr>
                      <a:r>
                        <a:rPr lang="en-US" sz="3200" b="0" strike="noStrike" spc="-1">
                          <a:solidFill>
                            <a:srgbClr val="000000"/>
                          </a:solidFill>
                          <a:latin typeface="Times New Roman"/>
                        </a:rPr>
                        <a:t>720 x 440</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extLst>
                  <a:ext uri="{0D108BD9-81ED-4DB2-BD59-A6C34878D82A}">
                    <a16:rowId xmlns:a16="http://schemas.microsoft.com/office/drawing/2014/main" val="10008"/>
                  </a:ext>
                </a:extLst>
              </a:tr>
              <a:tr h="630720">
                <a:tc vMerge="1">
                  <a:txBody>
                    <a:bodyPr/>
                    <a:lstStyle/>
                    <a:p>
                      <a:endParaRPr lang="fr-FR"/>
                    </a:p>
                  </a:txBody>
                  <a:tcPr marL="90000" marR="90000">
                    <a:lnL>
                      <a:noFill/>
                    </a:lnL>
                    <a:lnR>
                      <a:noFill/>
                    </a:lnR>
                    <a:lnT>
                      <a:noFill/>
                    </a:lnT>
                    <a:lnB>
                      <a:noFill/>
                    </a:lnB>
                    <a:solidFill>
                      <a:srgbClr val="729FCF"/>
                    </a:solidFill>
                  </a:tcPr>
                </a:tc>
                <a:tc>
                  <a:txBody>
                    <a:bodyPr/>
                    <a:lstStyle/>
                    <a:p>
                      <a:pPr algn="ctr">
                        <a:lnSpc>
                          <a:spcPct val="115000"/>
                        </a:lnSpc>
                        <a:buNone/>
                      </a:pPr>
                      <a:r>
                        <a:rPr lang="en-US" sz="3200" b="0" strike="noStrike" spc="-1">
                          <a:solidFill>
                            <a:srgbClr val="000000"/>
                          </a:solidFill>
                          <a:latin typeface="Times New Roman"/>
                        </a:rPr>
                        <a:t>C+I+E</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tc>
                  <a:txBody>
                    <a:bodyPr/>
                    <a:lstStyle/>
                    <a:p>
                      <a:pPr algn="ctr">
                        <a:lnSpc>
                          <a:spcPct val="115000"/>
                        </a:lnSpc>
                        <a:buNone/>
                      </a:pPr>
                      <a:r>
                        <a:rPr lang="en-US" sz="3200" b="0" strike="noStrike" spc="-1">
                          <a:solidFill>
                            <a:srgbClr val="000000"/>
                          </a:solidFill>
                          <a:latin typeface="Times New Roman"/>
                        </a:rPr>
                        <a:t>740 x 480</a:t>
                      </a:r>
                      <a:endParaRPr lang="fr-FR" sz="3200" b="0" strike="noStrike" spc="-1">
                        <a:latin typeface="Arial"/>
                      </a:endParaRPr>
                    </a:p>
                  </a:txBody>
                  <a:tcPr marL="34920" marR="34920">
                    <a:lnL w="12240">
                      <a:solidFill>
                        <a:srgbClr val="000000"/>
                      </a:solidFill>
                    </a:lnL>
                    <a:lnR w="12240">
                      <a:solidFill>
                        <a:srgbClr val="000000"/>
                      </a:solidFill>
                    </a:lnR>
                    <a:lnT w="12240">
                      <a:solidFill>
                        <a:srgbClr val="000000"/>
                      </a:solidFill>
                    </a:lnT>
                    <a:lnB w="12240">
                      <a:solidFill>
                        <a:srgbClr val="000000"/>
                      </a:solidFill>
                    </a:lnB>
                    <a:solidFill>
                      <a:srgbClr val="E8EBF4"/>
                    </a:solidFill>
                  </a:tcPr>
                </a:tc>
                <a:extLst>
                  <a:ext uri="{0D108BD9-81ED-4DB2-BD59-A6C34878D82A}">
                    <a16:rowId xmlns:a16="http://schemas.microsoft.com/office/drawing/2014/main" val="10009"/>
                  </a:ext>
                </a:extLst>
              </a:tr>
            </a:tbl>
          </a:graphicData>
        </a:graphic>
      </p:graphicFrame>
      <p:sp>
        <p:nvSpPr>
          <p:cNvPr id="160" name="TextBox 30"/>
          <p:cNvSpPr/>
          <p:nvPr/>
        </p:nvSpPr>
        <p:spPr>
          <a:xfrm>
            <a:off x="10747080" y="12673800"/>
            <a:ext cx="7134480" cy="51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800" b="1" i="1" strike="noStrike" spc="-1">
                <a:solidFill>
                  <a:srgbClr val="000080"/>
                </a:solidFill>
                <a:latin typeface="Times New Roman"/>
                <a:ea typeface="DejaVu Sans"/>
              </a:rPr>
              <a:t>Tab.1: </a:t>
            </a:r>
            <a:r>
              <a:rPr lang="en-US" sz="2800" b="0" strike="noStrike" spc="-1">
                <a:solidFill>
                  <a:srgbClr val="000080"/>
                </a:solidFill>
                <a:latin typeface="Times New Roman"/>
                <a:ea typeface="DejaVu Sans"/>
              </a:rPr>
              <a:t>AROME configuration characteristics </a:t>
            </a:r>
            <a:endParaRPr lang="fr-FR" sz="2800" b="0" strike="noStrike" spc="-1">
              <a:latin typeface="Arial"/>
            </a:endParaRPr>
          </a:p>
        </p:txBody>
      </p:sp>
      <p:sp>
        <p:nvSpPr>
          <p:cNvPr id="161" name="TextBox 31"/>
          <p:cNvSpPr/>
          <p:nvPr/>
        </p:nvSpPr>
        <p:spPr>
          <a:xfrm>
            <a:off x="14961240" y="23668920"/>
            <a:ext cx="3443040" cy="100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US" sz="3000" b="1" i="1" strike="noStrike" spc="-1">
                <a:solidFill>
                  <a:srgbClr val="000080"/>
                </a:solidFill>
                <a:latin typeface="Times New Roman"/>
                <a:ea typeface="DejaVu Sans"/>
              </a:rPr>
              <a:t>Fig .1:</a:t>
            </a:r>
            <a:r>
              <a:rPr lang="en-US" sz="3000" b="0" strike="noStrike" spc="-1">
                <a:solidFill>
                  <a:srgbClr val="000080"/>
                </a:solidFill>
                <a:latin typeface="Times New Roman"/>
                <a:ea typeface="DejaVu Sans"/>
              </a:rPr>
              <a:t>  AROME domain</a:t>
            </a:r>
            <a:endParaRPr lang="fr-FR" sz="3000" b="0" strike="noStrike" spc="-1">
              <a:latin typeface="Arial"/>
            </a:endParaRPr>
          </a:p>
        </p:txBody>
      </p:sp>
      <p:sp>
        <p:nvSpPr>
          <p:cNvPr id="162" name="Rectangle 3"/>
          <p:cNvSpPr/>
          <p:nvPr/>
        </p:nvSpPr>
        <p:spPr>
          <a:xfrm>
            <a:off x="18838080" y="12620880"/>
            <a:ext cx="10978920" cy="722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ctr">
            <a:spAutoFit/>
          </a:bodyPr>
          <a:lstStyle/>
          <a:p>
            <a:pPr algn="just">
              <a:lnSpc>
                <a:spcPct val="100000"/>
              </a:lnSpc>
              <a:buNone/>
              <a:tabLst>
                <a:tab pos="0" algn="l"/>
              </a:tabLst>
            </a:pPr>
            <a:r>
              <a:rPr lang="en-US" sz="3600" b="0" i="1" strike="noStrike" spc="-1">
                <a:solidFill>
                  <a:srgbClr val="000000"/>
                </a:solidFill>
                <a:latin typeface="Times New Roman"/>
                <a:ea typeface="DejaVu Sans"/>
              </a:rPr>
              <a:t>- Three distinct configurations were prepared for the purpose of comparison :</a:t>
            </a:r>
            <a:endParaRPr lang="fr-FR" sz="3600" b="0" strike="noStrike" spc="-1">
              <a:latin typeface="Arial"/>
            </a:endParaRPr>
          </a:p>
          <a:p>
            <a:pPr algn="just">
              <a:lnSpc>
                <a:spcPct val="100000"/>
              </a:lnSpc>
              <a:buNone/>
              <a:tabLst>
                <a:tab pos="0" algn="l"/>
              </a:tabLst>
            </a:pPr>
            <a:r>
              <a:rPr lang="en-US" sz="3600" b="1" strike="noStrike" spc="-1">
                <a:solidFill>
                  <a:srgbClr val="000000"/>
                </a:solidFill>
                <a:latin typeface="Times New Roman"/>
                <a:ea typeface="DejaVu Sans"/>
              </a:rPr>
              <a:t> </a:t>
            </a:r>
            <a:r>
              <a:rPr lang="en-US" sz="3600" b="1" i="1" u="sng" strike="noStrike" spc="-1">
                <a:solidFill>
                  <a:srgbClr val="000000"/>
                </a:solidFill>
                <a:uFillTx/>
                <a:latin typeface="Times New Roman"/>
                <a:ea typeface="DejaVu Sans"/>
              </a:rPr>
              <a:t>1. AROME_ICE3 </a:t>
            </a:r>
            <a:r>
              <a:rPr lang="en-US" sz="3600" b="0" i="1" strike="noStrike" spc="-1">
                <a:solidFill>
                  <a:srgbClr val="000000"/>
                </a:solidFill>
                <a:latin typeface="Times New Roman"/>
                <a:ea typeface="DejaVu Sans"/>
              </a:rPr>
              <a:t>: No Aerosols Initialization + ICE3 				    Scheme + Default formula . </a:t>
            </a:r>
            <a:endParaRPr lang="fr-FR" sz="3600" b="0" strike="noStrike" spc="-1">
              <a:latin typeface="Arial"/>
            </a:endParaRPr>
          </a:p>
          <a:p>
            <a:pPr algn="just">
              <a:lnSpc>
                <a:spcPct val="100000"/>
              </a:lnSpc>
              <a:buNone/>
              <a:tabLst>
                <a:tab pos="0" algn="l"/>
              </a:tabLst>
            </a:pPr>
            <a:r>
              <a:rPr lang="en-US" sz="3600" b="1" i="1" strike="noStrike" spc="-1">
                <a:solidFill>
                  <a:srgbClr val="000000"/>
                </a:solidFill>
                <a:latin typeface="Times New Roman"/>
                <a:ea typeface="DejaVu Sans"/>
              </a:rPr>
              <a:t> </a:t>
            </a:r>
            <a:r>
              <a:rPr lang="en-US" sz="3600" b="1" i="1" u="sng" strike="noStrike" spc="-1">
                <a:solidFill>
                  <a:srgbClr val="000000"/>
                </a:solidFill>
                <a:uFillTx/>
                <a:latin typeface="Times New Roman"/>
                <a:ea typeface="DejaVu Sans"/>
              </a:rPr>
              <a:t>2. AROME_LIMA :</a:t>
            </a:r>
            <a:r>
              <a:rPr lang="en-US" sz="3600" b="0" i="1" strike="noStrike" spc="-1">
                <a:solidFill>
                  <a:srgbClr val="000000"/>
                </a:solidFill>
                <a:latin typeface="Times New Roman"/>
                <a:ea typeface="DejaVu Sans"/>
              </a:rPr>
              <a:t> No Aerosols Initialization +  LIMA 				   scheme + Default formula </a:t>
            </a:r>
            <a:endParaRPr lang="fr-FR" sz="3600" b="0" strike="noStrike" spc="-1">
              <a:latin typeface="Arial"/>
            </a:endParaRPr>
          </a:p>
          <a:p>
            <a:pPr algn="just">
              <a:lnSpc>
                <a:spcPct val="100000"/>
              </a:lnSpc>
              <a:buNone/>
              <a:tabLst>
                <a:tab pos="0" algn="l"/>
              </a:tabLst>
            </a:pPr>
            <a:r>
              <a:rPr lang="en-US" sz="3600" b="1" i="1" strike="noStrike" spc="-1">
                <a:solidFill>
                  <a:srgbClr val="000000"/>
                </a:solidFill>
                <a:latin typeface="Times New Roman"/>
                <a:ea typeface="DejaVu Sans"/>
              </a:rPr>
              <a:t> </a:t>
            </a:r>
            <a:r>
              <a:rPr lang="en-US" sz="3600" b="1" i="1" u="sng" strike="noStrike" spc="-1">
                <a:solidFill>
                  <a:srgbClr val="000000"/>
                </a:solidFill>
                <a:uFillTx/>
                <a:latin typeface="Times New Roman"/>
                <a:ea typeface="DejaVu Sans"/>
              </a:rPr>
              <a:t>3. AROME_INIT :</a:t>
            </a:r>
            <a:r>
              <a:rPr lang="en-US" sz="3600" b="0" i="1" strike="noStrike" spc="-1">
                <a:solidFill>
                  <a:srgbClr val="000000"/>
                </a:solidFill>
                <a:latin typeface="Times New Roman"/>
                <a:ea typeface="DejaVu Sans"/>
              </a:rPr>
              <a:t> Aerosols Initialization using CAMS + 				 LIMA scheme + New Formula ( 01 ) </a:t>
            </a:r>
            <a:endParaRPr lang="fr-FR" sz="3600" b="0" strike="noStrike" spc="-1">
              <a:latin typeface="Arial"/>
            </a:endParaRPr>
          </a:p>
          <a:p>
            <a:pPr algn="just">
              <a:lnSpc>
                <a:spcPct val="100000"/>
              </a:lnSpc>
              <a:buNone/>
              <a:tabLst>
                <a:tab pos="0" algn="l"/>
              </a:tabLst>
            </a:pPr>
            <a:r>
              <a:rPr lang="en-US" sz="3600" b="0" i="1" strike="noStrike" spc="-1">
                <a:solidFill>
                  <a:srgbClr val="000000"/>
                </a:solidFill>
                <a:latin typeface="Times New Roman"/>
                <a:ea typeface="DejaVu Sans"/>
              </a:rPr>
              <a:t>- From CAMS , we </a:t>
            </a:r>
            <a:r>
              <a:rPr lang="en-US" sz="3600" b="1" i="1" u="sng" strike="noStrike" spc="-1">
                <a:solidFill>
                  <a:srgbClr val="000000"/>
                </a:solidFill>
                <a:uFillTx/>
                <a:latin typeface="Times New Roman"/>
                <a:ea typeface="DejaVu Sans"/>
              </a:rPr>
              <a:t>identify 11 types of aerosols </a:t>
            </a:r>
            <a:r>
              <a:rPr lang="en-US" sz="3600" b="0" i="1" strike="noStrike" spc="-1">
                <a:solidFill>
                  <a:srgbClr val="000000"/>
                </a:solidFill>
                <a:latin typeface="Times New Roman"/>
                <a:ea typeface="DejaVu Sans"/>
              </a:rPr>
              <a:t>that can be grouped into </a:t>
            </a:r>
            <a:r>
              <a:rPr lang="en-US" sz="3600" b="1" i="1" u="sng" strike="noStrike" spc="-1">
                <a:solidFill>
                  <a:srgbClr val="000000"/>
                </a:solidFill>
                <a:uFillTx/>
                <a:latin typeface="Times New Roman"/>
                <a:ea typeface="DejaVu Sans"/>
              </a:rPr>
              <a:t>five major modes between CCN and IFN</a:t>
            </a:r>
            <a:r>
              <a:rPr lang="en-US" sz="3600" b="0" i="1" strike="noStrike" spc="-1">
                <a:solidFill>
                  <a:srgbClr val="000000"/>
                </a:solidFill>
                <a:latin typeface="Times New Roman"/>
                <a:ea typeface="DejaVu Sans"/>
              </a:rPr>
              <a:t>. (The characteristics of each group have been extracted from old work of: Y.Seity, B.Vié , D.Martin , and M.Mokhtari) : </a:t>
            </a:r>
            <a:endParaRPr lang="fr-FR" sz="3600" b="0" strike="noStrike" spc="-1">
              <a:latin typeface="Arial"/>
            </a:endParaRPr>
          </a:p>
        </p:txBody>
      </p:sp>
      <p:sp>
        <p:nvSpPr>
          <p:cNvPr id="163" name="Rectangle 4"/>
          <p:cNvSpPr/>
          <p:nvPr/>
        </p:nvSpPr>
        <p:spPr>
          <a:xfrm>
            <a:off x="4118040" y="-318240"/>
            <a:ext cx="180720" cy="6379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numCol="1" spcCol="0" anchor="ctr">
            <a:spAutoFit/>
          </a:bodyPr>
          <a:lstStyle/>
          <a:p>
            <a:pPr>
              <a:lnSpc>
                <a:spcPct val="100000"/>
              </a:lnSpc>
              <a:buNone/>
              <a:tabLst>
                <a:tab pos="0" algn="l"/>
              </a:tabLst>
            </a:pPr>
            <a:br>
              <a:rPr sz="1800"/>
            </a:br>
            <a:endParaRPr lang="fr-FR" sz="1800" b="0" strike="noStrike" spc="-1">
              <a:latin typeface="Arial"/>
            </a:endParaRPr>
          </a:p>
        </p:txBody>
      </p:sp>
      <p:sp>
        <p:nvSpPr>
          <p:cNvPr id="164" name="Rectangle: Rounded Corners 47"/>
          <p:cNvSpPr/>
          <p:nvPr/>
        </p:nvSpPr>
        <p:spPr>
          <a:xfrm>
            <a:off x="566640" y="22603320"/>
            <a:ext cx="9088200" cy="1389600"/>
          </a:xfrm>
          <a:prstGeom prst="roundRect">
            <a:avLst>
              <a:gd name="adj" fmla="val 16667"/>
            </a:avLst>
          </a:prstGeom>
          <a:solidFill>
            <a:srgbClr val="000080"/>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en-GB" sz="4400" b="0" strike="noStrike" spc="-1">
                <a:solidFill>
                  <a:srgbClr val="FFFFFF"/>
                </a:solidFill>
                <a:latin typeface="Times New Roman"/>
                <a:ea typeface="DejaVu Sans"/>
              </a:rPr>
              <a:t>4.Conslusions &amp; Perspectives </a:t>
            </a:r>
            <a:endParaRPr lang="fr-FR" sz="4400" b="0" strike="noStrike" spc="-1">
              <a:latin typeface="Arial"/>
            </a:endParaRPr>
          </a:p>
        </p:txBody>
      </p:sp>
      <p:graphicFrame>
        <p:nvGraphicFramePr>
          <p:cNvPr id="165" name="Table 1"/>
          <p:cNvGraphicFramePr/>
          <p:nvPr/>
        </p:nvGraphicFramePr>
        <p:xfrm>
          <a:off x="18838080" y="19900080"/>
          <a:ext cx="10757520" cy="6673680"/>
        </p:xfrm>
        <a:graphic>
          <a:graphicData uri="http://schemas.openxmlformats.org/drawingml/2006/table">
            <a:tbl>
              <a:tblPr/>
              <a:tblGrid>
                <a:gridCol w="4744440">
                  <a:extLst>
                    <a:ext uri="{9D8B030D-6E8A-4147-A177-3AD203B41FA5}">
                      <a16:colId xmlns:a16="http://schemas.microsoft.com/office/drawing/2014/main" val="20000"/>
                    </a:ext>
                  </a:extLst>
                </a:gridCol>
                <a:gridCol w="2102040">
                  <a:extLst>
                    <a:ext uri="{9D8B030D-6E8A-4147-A177-3AD203B41FA5}">
                      <a16:colId xmlns:a16="http://schemas.microsoft.com/office/drawing/2014/main" val="20001"/>
                    </a:ext>
                  </a:extLst>
                </a:gridCol>
                <a:gridCol w="1254240">
                  <a:extLst>
                    <a:ext uri="{9D8B030D-6E8A-4147-A177-3AD203B41FA5}">
                      <a16:colId xmlns:a16="http://schemas.microsoft.com/office/drawing/2014/main" val="20002"/>
                    </a:ext>
                  </a:extLst>
                </a:gridCol>
                <a:gridCol w="1172160">
                  <a:extLst>
                    <a:ext uri="{9D8B030D-6E8A-4147-A177-3AD203B41FA5}">
                      <a16:colId xmlns:a16="http://schemas.microsoft.com/office/drawing/2014/main" val="20003"/>
                    </a:ext>
                  </a:extLst>
                </a:gridCol>
                <a:gridCol w="1484640">
                  <a:extLst>
                    <a:ext uri="{9D8B030D-6E8A-4147-A177-3AD203B41FA5}">
                      <a16:colId xmlns:a16="http://schemas.microsoft.com/office/drawing/2014/main" val="20004"/>
                    </a:ext>
                  </a:extLst>
                </a:gridCol>
              </a:tblGrid>
              <a:tr h="1005480">
                <a:tc>
                  <a:txBody>
                    <a:bodyPr/>
                    <a:lstStyle/>
                    <a:p>
                      <a:pPr algn="ctr">
                        <a:lnSpc>
                          <a:spcPct val="100000"/>
                        </a:lnSpc>
                        <a:buNone/>
                      </a:pPr>
                      <a:r>
                        <a:rPr lang="fr-FR" sz="3000" b="1" i="1" strike="noStrike" spc="-1">
                          <a:solidFill>
                            <a:srgbClr val="000000"/>
                          </a:solidFill>
                          <a:latin typeface="Times New Roman"/>
                        </a:rPr>
                        <a:t>Cams Aerosols</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1" i="1" strike="noStrike" spc="-1">
                          <a:solidFill>
                            <a:srgbClr val="000000"/>
                          </a:solidFill>
                          <a:latin typeface="Times New Roman"/>
                        </a:rPr>
                        <a:t>Group in LIMA</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1" i="1" strike="noStrike" spc="-1">
                          <a:solidFill>
                            <a:srgbClr val="000000"/>
                          </a:solidFill>
                          <a:latin typeface="Times New Roman"/>
                        </a:rPr>
                        <a:t>Rho </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1" i="1" strike="noStrike" spc="-1">
                          <a:solidFill>
                            <a:srgbClr val="000000"/>
                          </a:solidFill>
                          <a:latin typeface="Times New Roman"/>
                        </a:rPr>
                        <a:t>md</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1" i="1" strike="noStrike" spc="-1">
                          <a:solidFill>
                            <a:srgbClr val="000000"/>
                          </a:solidFill>
                          <a:latin typeface="Times New Roman"/>
                        </a:rPr>
                        <a:t>sigma</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548640">
                <a:tc>
                  <a:txBody>
                    <a:bodyPr/>
                    <a:lstStyle/>
                    <a:p>
                      <a:pPr algn="ctr">
                        <a:lnSpc>
                          <a:spcPct val="100000"/>
                        </a:lnSpc>
                        <a:buNone/>
                      </a:pPr>
                      <a:r>
                        <a:rPr lang="en-US" sz="3000" b="0" i="1" strike="noStrike" spc="-1">
                          <a:solidFill>
                            <a:srgbClr val="000000"/>
                          </a:solidFill>
                          <a:latin typeface="Times New Roman"/>
                        </a:rPr>
                        <a:t>Sea Salt {0,03-20} um</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0" i="1" strike="noStrike" spc="-1">
                          <a:solidFill>
                            <a:srgbClr val="000000"/>
                          </a:solidFill>
                          <a:latin typeface="Times New Roman"/>
                        </a:rPr>
                        <a:t>CCN_F1</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0" i="1" strike="noStrike" spc="-1">
                          <a:solidFill>
                            <a:srgbClr val="000000"/>
                          </a:solidFill>
                          <a:latin typeface="Times New Roman"/>
                        </a:rPr>
                        <a:t>2160</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0" i="1" strike="noStrike" spc="-1">
                          <a:solidFill>
                            <a:srgbClr val="000000"/>
                          </a:solidFill>
                          <a:latin typeface="Times New Roman"/>
                        </a:rPr>
                        <a:t>0,8</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0" i="1" strike="noStrike" spc="-1">
                          <a:solidFill>
                            <a:srgbClr val="000000"/>
                          </a:solidFill>
                          <a:latin typeface="Times New Roman"/>
                        </a:rPr>
                        <a:t>1,89</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548640">
                <a:tc>
                  <a:txBody>
                    <a:bodyPr/>
                    <a:lstStyle/>
                    <a:p>
                      <a:pPr algn="ctr">
                        <a:lnSpc>
                          <a:spcPct val="100000"/>
                        </a:lnSpc>
                        <a:buNone/>
                      </a:pPr>
                      <a:r>
                        <a:rPr lang="fr-FR" sz="3000" b="0" i="1" strike="noStrike" spc="-1">
                          <a:solidFill>
                            <a:srgbClr val="000000"/>
                          </a:solidFill>
                          <a:latin typeface="Times New Roman"/>
                        </a:rPr>
                        <a:t>Sulphate</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0" i="1" strike="noStrike" spc="-1">
                          <a:solidFill>
                            <a:srgbClr val="000000"/>
                          </a:solidFill>
                          <a:latin typeface="Times New Roman"/>
                        </a:rPr>
                        <a:t>CCN_F2</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0" i="1" strike="noStrike" spc="-1">
                          <a:solidFill>
                            <a:srgbClr val="000000"/>
                          </a:solidFill>
                          <a:latin typeface="Times New Roman"/>
                        </a:rPr>
                        <a:t>2000</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0" i="1" strike="noStrike" spc="-1">
                          <a:solidFill>
                            <a:srgbClr val="000000"/>
                          </a:solidFill>
                          <a:latin typeface="Times New Roman"/>
                        </a:rPr>
                        <a:t>0,5</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0" i="1" strike="noStrike" spc="-1">
                          <a:solidFill>
                            <a:srgbClr val="000000"/>
                          </a:solidFill>
                          <a:latin typeface="Times New Roman"/>
                        </a:rPr>
                        <a:t>1,6</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1005480">
                <a:tc>
                  <a:txBody>
                    <a:bodyPr/>
                    <a:lstStyle/>
                    <a:p>
                      <a:pPr algn="ctr">
                        <a:lnSpc>
                          <a:spcPct val="100000"/>
                        </a:lnSpc>
                        <a:buNone/>
                        <a:tabLst>
                          <a:tab pos="0" algn="l"/>
                        </a:tabLst>
                      </a:pPr>
                      <a:r>
                        <a:rPr lang="en-US" sz="3000" b="0" i="1" strike="noStrike" spc="-1">
                          <a:solidFill>
                            <a:srgbClr val="000000"/>
                          </a:solidFill>
                          <a:latin typeface="Times New Roman"/>
                        </a:rPr>
                        <a:t>Hydrophobic Organic Matter</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rowSpan="2">
                  <a:txBody>
                    <a:bodyPr/>
                    <a:lstStyle/>
                    <a:p>
                      <a:pPr algn="ctr">
                        <a:lnSpc>
                          <a:spcPct val="100000"/>
                        </a:lnSpc>
                        <a:buNone/>
                      </a:pPr>
                      <a:r>
                        <a:rPr lang="fr-FR" sz="3000" b="0" i="1" strike="noStrike" spc="-1">
                          <a:solidFill>
                            <a:srgbClr val="000000"/>
                          </a:solidFill>
                          <a:latin typeface="Times New Roman"/>
                        </a:rPr>
                        <a:t>CCN_F3</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rowSpan="2">
                  <a:txBody>
                    <a:bodyPr/>
                    <a:lstStyle/>
                    <a:p>
                      <a:pPr algn="ctr">
                        <a:lnSpc>
                          <a:spcPct val="100000"/>
                        </a:lnSpc>
                        <a:buNone/>
                      </a:pPr>
                      <a:r>
                        <a:rPr lang="fr-FR" sz="3000" b="0" i="1" strike="noStrike" spc="-1">
                          <a:solidFill>
                            <a:srgbClr val="000000"/>
                          </a:solidFill>
                          <a:latin typeface="Times New Roman"/>
                        </a:rPr>
                        <a:t>1750</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rowSpan="2">
                  <a:txBody>
                    <a:bodyPr/>
                    <a:lstStyle/>
                    <a:p>
                      <a:pPr algn="ctr">
                        <a:lnSpc>
                          <a:spcPct val="100000"/>
                        </a:lnSpc>
                        <a:buNone/>
                      </a:pPr>
                      <a:r>
                        <a:rPr lang="fr-FR" sz="3000" b="0" i="1" strike="noStrike" spc="-1">
                          <a:solidFill>
                            <a:srgbClr val="000000"/>
                          </a:solidFill>
                          <a:latin typeface="Times New Roman"/>
                        </a:rPr>
                        <a:t>0,2</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rowSpan="2">
                  <a:txBody>
                    <a:bodyPr/>
                    <a:lstStyle/>
                    <a:p>
                      <a:pPr algn="ctr">
                        <a:lnSpc>
                          <a:spcPct val="100000"/>
                        </a:lnSpc>
                        <a:buNone/>
                      </a:pPr>
                      <a:r>
                        <a:rPr lang="fr-FR" sz="3000" b="0" i="1" strike="noStrike" spc="-1">
                          <a:solidFill>
                            <a:srgbClr val="000000"/>
                          </a:solidFill>
                          <a:latin typeface="Times New Roman"/>
                        </a:rPr>
                        <a:t>1,6</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r h="1005480">
                <a:tc>
                  <a:txBody>
                    <a:bodyPr/>
                    <a:lstStyle/>
                    <a:p>
                      <a:pPr algn="ctr">
                        <a:lnSpc>
                          <a:spcPct val="100000"/>
                        </a:lnSpc>
                        <a:buNone/>
                        <a:tabLst>
                          <a:tab pos="0" algn="l"/>
                        </a:tabLst>
                      </a:pPr>
                      <a:r>
                        <a:rPr lang="en-US" sz="3000" b="0" i="1" strike="noStrike" spc="-1">
                          <a:solidFill>
                            <a:srgbClr val="000000"/>
                          </a:solidFill>
                          <a:latin typeface="Times New Roman"/>
                        </a:rPr>
                        <a:t>Hydrophobic Black Carbon</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vMerge="1">
                  <a:txBody>
                    <a:bodyPr/>
                    <a:lstStyle/>
                    <a:p>
                      <a:endParaRPr lang="fr-FR"/>
                    </a:p>
                  </a:txBody>
                  <a:tcPr marL="90000" marR="90000">
                    <a:lnL>
                      <a:noFill/>
                    </a:lnL>
                    <a:lnR>
                      <a:noFill/>
                    </a:lnR>
                    <a:lnT>
                      <a:noFill/>
                    </a:lnT>
                    <a:lnB>
                      <a:noFill/>
                    </a:lnB>
                    <a:solidFill>
                      <a:srgbClr val="729FCF"/>
                    </a:solidFill>
                  </a:tcPr>
                </a:tc>
                <a:tc vMerge="1">
                  <a:txBody>
                    <a:bodyPr/>
                    <a:lstStyle/>
                    <a:p>
                      <a:endParaRPr lang="fr-FR"/>
                    </a:p>
                  </a:txBody>
                  <a:tcPr marL="90000" marR="90000">
                    <a:lnL>
                      <a:noFill/>
                    </a:lnL>
                    <a:lnR>
                      <a:noFill/>
                    </a:lnR>
                    <a:lnT>
                      <a:noFill/>
                    </a:lnT>
                    <a:lnB>
                      <a:noFill/>
                    </a:lnB>
                    <a:solidFill>
                      <a:srgbClr val="729FCF"/>
                    </a:solidFill>
                  </a:tcPr>
                </a:tc>
                <a:tc vMerge="1">
                  <a:txBody>
                    <a:bodyPr/>
                    <a:lstStyle/>
                    <a:p>
                      <a:endParaRPr lang="fr-FR"/>
                    </a:p>
                  </a:txBody>
                  <a:tcPr marL="90000" marR="90000">
                    <a:lnL>
                      <a:noFill/>
                    </a:lnL>
                    <a:lnR>
                      <a:noFill/>
                    </a:lnR>
                    <a:lnT>
                      <a:noFill/>
                    </a:lnT>
                    <a:lnB>
                      <a:noFill/>
                    </a:lnB>
                    <a:solidFill>
                      <a:srgbClr val="729FCF"/>
                    </a:solidFill>
                  </a:tcPr>
                </a:tc>
                <a:tc vMerge="1">
                  <a:txBody>
                    <a:bodyPr/>
                    <a:lstStyle/>
                    <a:p>
                      <a:endParaRPr lang="fr-F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548640">
                <a:tc>
                  <a:txBody>
                    <a:bodyPr/>
                    <a:lstStyle/>
                    <a:p>
                      <a:pPr algn="ctr">
                        <a:lnSpc>
                          <a:spcPct val="100000"/>
                        </a:lnSpc>
                        <a:buNone/>
                      </a:pPr>
                      <a:r>
                        <a:rPr lang="fr-FR" sz="3000" b="0" i="1" strike="noStrike" spc="-1">
                          <a:solidFill>
                            <a:srgbClr val="000000"/>
                          </a:solidFill>
                          <a:latin typeface="Times New Roman"/>
                        </a:rPr>
                        <a:t>Dust {0,03 – 20} um</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0" i="1" strike="noStrike" spc="-1">
                          <a:solidFill>
                            <a:srgbClr val="000000"/>
                          </a:solidFill>
                          <a:latin typeface="Times New Roman"/>
                        </a:rPr>
                        <a:t>IFN_F1</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0" i="1" strike="noStrike" spc="-1">
                          <a:solidFill>
                            <a:srgbClr val="000000"/>
                          </a:solidFill>
                          <a:latin typeface="Times New Roman"/>
                        </a:rPr>
                        <a:t>2300</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0" i="1" strike="noStrike" spc="-1">
                          <a:solidFill>
                            <a:srgbClr val="000000"/>
                          </a:solidFill>
                          <a:latin typeface="Times New Roman"/>
                        </a:rPr>
                        <a:t>0,8</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00000"/>
                        </a:lnSpc>
                        <a:buNone/>
                      </a:pPr>
                      <a:r>
                        <a:rPr lang="fr-FR" sz="3000" b="0" i="1" strike="noStrike" spc="-1">
                          <a:solidFill>
                            <a:srgbClr val="000000"/>
                          </a:solidFill>
                          <a:latin typeface="Times New Roman"/>
                        </a:rPr>
                        <a:t>1,9</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5"/>
                  </a:ext>
                </a:extLst>
              </a:tr>
              <a:tr h="1005480">
                <a:tc>
                  <a:txBody>
                    <a:bodyPr/>
                    <a:lstStyle/>
                    <a:p>
                      <a:pPr algn="ctr">
                        <a:lnSpc>
                          <a:spcPct val="100000"/>
                        </a:lnSpc>
                        <a:buNone/>
                        <a:tabLst>
                          <a:tab pos="0" algn="l"/>
                        </a:tabLst>
                      </a:pPr>
                      <a:r>
                        <a:rPr lang="en-US" sz="3000" b="0" i="1" strike="noStrike" spc="-1">
                          <a:solidFill>
                            <a:srgbClr val="000000"/>
                          </a:solidFill>
                          <a:latin typeface="Times New Roman"/>
                        </a:rPr>
                        <a:t>Hydrophilic Organic Matter</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rowSpan="2">
                  <a:txBody>
                    <a:bodyPr/>
                    <a:lstStyle/>
                    <a:p>
                      <a:pPr algn="ctr">
                        <a:lnSpc>
                          <a:spcPct val="100000"/>
                        </a:lnSpc>
                        <a:buNone/>
                      </a:pPr>
                      <a:r>
                        <a:rPr lang="fr-FR" sz="3000" b="0" i="1" strike="noStrike" spc="-1">
                          <a:solidFill>
                            <a:srgbClr val="000000"/>
                          </a:solidFill>
                          <a:latin typeface="Times New Roman"/>
                        </a:rPr>
                        <a:t>IFN_F2</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rowSpan="2">
                  <a:txBody>
                    <a:bodyPr/>
                    <a:lstStyle/>
                    <a:p>
                      <a:pPr algn="ctr">
                        <a:lnSpc>
                          <a:spcPct val="100000"/>
                        </a:lnSpc>
                        <a:buNone/>
                      </a:pPr>
                      <a:r>
                        <a:rPr lang="fr-FR" sz="3000" b="0" i="1" strike="noStrike" spc="-1">
                          <a:solidFill>
                            <a:srgbClr val="000000"/>
                          </a:solidFill>
                          <a:latin typeface="Times New Roman"/>
                        </a:rPr>
                        <a:t>1700</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rowSpan="2">
                  <a:txBody>
                    <a:bodyPr/>
                    <a:lstStyle/>
                    <a:p>
                      <a:pPr algn="ctr">
                        <a:lnSpc>
                          <a:spcPct val="100000"/>
                        </a:lnSpc>
                        <a:buNone/>
                      </a:pPr>
                      <a:r>
                        <a:rPr lang="fr-FR" sz="3000" b="0" i="1" strike="noStrike" spc="-1">
                          <a:solidFill>
                            <a:srgbClr val="000000"/>
                          </a:solidFill>
                          <a:latin typeface="Times New Roman"/>
                        </a:rPr>
                        <a:t>0,2</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rowSpan="2">
                  <a:txBody>
                    <a:bodyPr/>
                    <a:lstStyle/>
                    <a:p>
                      <a:pPr algn="ctr">
                        <a:lnSpc>
                          <a:spcPct val="100000"/>
                        </a:lnSpc>
                        <a:buNone/>
                      </a:pPr>
                      <a:r>
                        <a:rPr lang="fr-FR" sz="3000" b="0" i="1" strike="noStrike" spc="-1">
                          <a:solidFill>
                            <a:srgbClr val="000000"/>
                          </a:solidFill>
                          <a:latin typeface="Times New Roman"/>
                        </a:rPr>
                        <a:t>1,6</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6"/>
                  </a:ext>
                </a:extLst>
              </a:tr>
              <a:tr h="1005480">
                <a:tc>
                  <a:txBody>
                    <a:bodyPr/>
                    <a:lstStyle/>
                    <a:p>
                      <a:pPr algn="ctr">
                        <a:lnSpc>
                          <a:spcPct val="100000"/>
                        </a:lnSpc>
                        <a:buNone/>
                        <a:tabLst>
                          <a:tab pos="0" algn="l"/>
                        </a:tabLst>
                      </a:pPr>
                      <a:r>
                        <a:rPr lang="en-US" sz="3000" b="0" i="1" strike="noStrike" spc="-1">
                          <a:solidFill>
                            <a:srgbClr val="000000"/>
                          </a:solidFill>
                          <a:latin typeface="Times New Roman"/>
                        </a:rPr>
                        <a:t>Hydrophilic Black Carbon</a:t>
                      </a:r>
                      <a:endParaRPr lang="fr-FR" sz="30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noFill/>
                  </a:tcPr>
                </a:tc>
                <a:tc vMerge="1">
                  <a:txBody>
                    <a:bodyPr/>
                    <a:lstStyle/>
                    <a:p>
                      <a:endParaRPr lang="fr-FR"/>
                    </a:p>
                  </a:txBody>
                  <a:tcPr marL="90000" marR="90000">
                    <a:lnL>
                      <a:noFill/>
                    </a:lnL>
                    <a:lnR>
                      <a:noFill/>
                    </a:lnR>
                    <a:lnT>
                      <a:noFill/>
                    </a:lnT>
                    <a:lnB>
                      <a:noFill/>
                    </a:lnB>
                    <a:solidFill>
                      <a:srgbClr val="729FCF"/>
                    </a:solidFill>
                  </a:tcPr>
                </a:tc>
                <a:tc vMerge="1">
                  <a:txBody>
                    <a:bodyPr/>
                    <a:lstStyle/>
                    <a:p>
                      <a:endParaRPr lang="fr-FR"/>
                    </a:p>
                  </a:txBody>
                  <a:tcPr marL="90000" marR="90000">
                    <a:lnL>
                      <a:noFill/>
                    </a:lnL>
                    <a:lnR>
                      <a:noFill/>
                    </a:lnR>
                    <a:lnT>
                      <a:noFill/>
                    </a:lnT>
                    <a:lnB>
                      <a:noFill/>
                    </a:lnB>
                    <a:solidFill>
                      <a:srgbClr val="729FCF"/>
                    </a:solidFill>
                  </a:tcPr>
                </a:tc>
                <a:tc vMerge="1">
                  <a:txBody>
                    <a:bodyPr/>
                    <a:lstStyle/>
                    <a:p>
                      <a:endParaRPr lang="fr-FR"/>
                    </a:p>
                  </a:txBody>
                  <a:tcPr marL="90000" marR="90000">
                    <a:lnL>
                      <a:noFill/>
                    </a:lnL>
                    <a:lnR>
                      <a:noFill/>
                    </a:lnR>
                    <a:lnT>
                      <a:noFill/>
                    </a:lnT>
                    <a:lnB>
                      <a:noFill/>
                    </a:lnB>
                    <a:solidFill>
                      <a:srgbClr val="729FCF"/>
                    </a:solidFill>
                  </a:tcPr>
                </a:tc>
                <a:tc vMerge="1">
                  <a:txBody>
                    <a:bodyPr/>
                    <a:lstStyle/>
                    <a:p>
                      <a:endParaRPr lang="fr-F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7"/>
                  </a:ext>
                </a:extLst>
              </a:tr>
            </a:tbl>
          </a:graphicData>
        </a:graphic>
      </p:graphicFrame>
      <p:sp>
        <p:nvSpPr>
          <p:cNvPr id="166" name="Rectangle: Rounded Corners 37"/>
          <p:cNvSpPr/>
          <p:nvPr/>
        </p:nvSpPr>
        <p:spPr>
          <a:xfrm>
            <a:off x="10074960" y="27472680"/>
            <a:ext cx="19911600" cy="1389600"/>
          </a:xfrm>
          <a:prstGeom prst="roundRect">
            <a:avLst>
              <a:gd name="adj" fmla="val 16667"/>
            </a:avLst>
          </a:prstGeom>
          <a:solidFill>
            <a:srgbClr val="000080"/>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en-GB" sz="4400" b="0" strike="noStrike" spc="-1">
                <a:solidFill>
                  <a:srgbClr val="FFFFFF"/>
                </a:solidFill>
                <a:latin typeface="Times New Roman"/>
                <a:ea typeface="DejaVu Sans"/>
              </a:rPr>
              <a:t>3. Results </a:t>
            </a:r>
            <a:endParaRPr lang="fr-FR" sz="4400" b="0" strike="noStrike" spc="-1">
              <a:latin typeface="Arial"/>
            </a:endParaRPr>
          </a:p>
        </p:txBody>
      </p:sp>
      <p:sp>
        <p:nvSpPr>
          <p:cNvPr id="167" name="Rectangle: Rounded Corners 31"/>
          <p:cNvSpPr/>
          <p:nvPr/>
        </p:nvSpPr>
        <p:spPr>
          <a:xfrm>
            <a:off x="785520" y="40176000"/>
            <a:ext cx="9088200" cy="2159640"/>
          </a:xfrm>
          <a:custGeom>
            <a:avLst/>
            <a:gdLst/>
            <a:ahLst/>
            <a:cxnLst/>
            <a:rect l="l" t="t" r="r" b="b"/>
            <a:pathLst>
              <a:path w="11303851" h="18928488">
                <a:moveTo>
                  <a:pt x="0" y="861009"/>
                </a:moveTo>
                <a:cubicBezTo>
                  <a:pt x="0" y="-175214"/>
                  <a:pt x="863173" y="13441"/>
                  <a:pt x="1899396" y="13441"/>
                </a:cubicBezTo>
                <a:lnTo>
                  <a:pt x="9404158" y="13441"/>
                </a:lnTo>
                <a:cubicBezTo>
                  <a:pt x="10440381" y="13441"/>
                  <a:pt x="11303851" y="-8769"/>
                  <a:pt x="11303851" y="1027454"/>
                </a:cubicBezTo>
                <a:cubicBezTo>
                  <a:pt x="11296036" y="6367811"/>
                  <a:pt x="11288220" y="11708169"/>
                  <a:pt x="11280405" y="17048526"/>
                </a:cubicBezTo>
                <a:cubicBezTo>
                  <a:pt x="11280405" y="18084749"/>
                  <a:pt x="11204310" y="18900791"/>
                  <a:pt x="10168087" y="18900791"/>
                </a:cubicBezTo>
                <a:lnTo>
                  <a:pt x="1899396" y="18924773"/>
                </a:lnTo>
                <a:cubicBezTo>
                  <a:pt x="-289137" y="18954953"/>
                  <a:pt x="61923" y="18841291"/>
                  <a:pt x="23149" y="17048526"/>
                </a:cubicBezTo>
                <a:cubicBezTo>
                  <a:pt x="15433" y="11652687"/>
                  <a:pt x="7716" y="6256848"/>
                  <a:pt x="0" y="861009"/>
                </a:cubicBezTo>
                <a:close/>
              </a:path>
            </a:pathLst>
          </a:cu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just">
              <a:lnSpc>
                <a:spcPct val="100000"/>
              </a:lnSpc>
              <a:buNone/>
            </a:pPr>
            <a:r>
              <a:rPr lang="fr-FR" sz="3600" b="0" strike="noStrike" spc="-1">
                <a:solidFill>
                  <a:srgbClr val="000000"/>
                </a:solidFill>
                <a:latin typeface="Times New Roman"/>
                <a:ea typeface="DejaVu Sans"/>
              </a:rPr>
              <a:t>"I'd like to express my gratitude to Météo-Algerie for providing the observations, and extend my thanks to Ingrid Etchevers and Salomé Antoine for their guidance."</a:t>
            </a:r>
            <a:endParaRPr lang="fr-FR" sz="3600" b="0" strike="noStrike" spc="-1">
              <a:latin typeface="Arial"/>
            </a:endParaRPr>
          </a:p>
        </p:txBody>
      </p:sp>
      <p:sp>
        <p:nvSpPr>
          <p:cNvPr id="168" name="Rectangle: Rounded Corners 41"/>
          <p:cNvSpPr/>
          <p:nvPr/>
        </p:nvSpPr>
        <p:spPr>
          <a:xfrm>
            <a:off x="720000" y="38390040"/>
            <a:ext cx="9088200" cy="1389600"/>
          </a:xfrm>
          <a:prstGeom prst="roundRect">
            <a:avLst>
              <a:gd name="adj" fmla="val 16667"/>
            </a:avLst>
          </a:prstGeom>
          <a:solidFill>
            <a:srgbClr val="000080"/>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en-GB" sz="4400" b="0" strike="noStrike" spc="-1">
                <a:solidFill>
                  <a:srgbClr val="FFFFFF"/>
                </a:solidFill>
                <a:latin typeface="Times New Roman"/>
                <a:ea typeface="DejaVu Sans"/>
              </a:rPr>
              <a:t>Acknowledgment</a:t>
            </a:r>
            <a:endParaRPr lang="fr-FR" sz="4400" b="0" strike="noStrike" spc="-1">
              <a:latin typeface="Arial"/>
            </a:endParaRPr>
          </a:p>
        </p:txBody>
      </p:sp>
      <p:pic>
        <p:nvPicPr>
          <p:cNvPr id="169" name="Picture 60"/>
          <p:cNvPicPr/>
          <p:nvPr/>
        </p:nvPicPr>
        <p:blipFill>
          <a:blip r:embed="rId4"/>
          <a:stretch/>
        </p:blipFill>
        <p:spPr>
          <a:xfrm>
            <a:off x="10620360" y="29464920"/>
            <a:ext cx="6082920" cy="5445360"/>
          </a:xfrm>
          <a:prstGeom prst="rect">
            <a:avLst/>
          </a:prstGeom>
          <a:ln w="0">
            <a:noFill/>
          </a:ln>
        </p:spPr>
      </p:pic>
      <p:pic>
        <p:nvPicPr>
          <p:cNvPr id="170" name="Picture 61"/>
          <p:cNvPicPr/>
          <p:nvPr/>
        </p:nvPicPr>
        <p:blipFill>
          <a:blip r:embed="rId5"/>
          <a:stretch/>
        </p:blipFill>
        <p:spPr>
          <a:xfrm>
            <a:off x="17598960" y="29464920"/>
            <a:ext cx="6082920" cy="5445360"/>
          </a:xfrm>
          <a:prstGeom prst="rect">
            <a:avLst/>
          </a:prstGeom>
          <a:ln w="0">
            <a:noFill/>
          </a:ln>
        </p:spPr>
      </p:pic>
      <p:graphicFrame>
        <p:nvGraphicFramePr>
          <p:cNvPr id="171" name="Table 62"/>
          <p:cNvGraphicFramePr/>
          <p:nvPr/>
        </p:nvGraphicFramePr>
        <p:xfrm>
          <a:off x="10380600" y="36056520"/>
          <a:ext cx="19250640" cy="5164560"/>
        </p:xfrm>
        <a:graphic>
          <a:graphicData uri="http://schemas.openxmlformats.org/drawingml/2006/table">
            <a:tbl>
              <a:tblPr/>
              <a:tblGrid>
                <a:gridCol w="1682640">
                  <a:extLst>
                    <a:ext uri="{9D8B030D-6E8A-4147-A177-3AD203B41FA5}">
                      <a16:colId xmlns:a16="http://schemas.microsoft.com/office/drawing/2014/main" val="20000"/>
                    </a:ext>
                  </a:extLst>
                </a:gridCol>
                <a:gridCol w="4392000">
                  <a:extLst>
                    <a:ext uri="{9D8B030D-6E8A-4147-A177-3AD203B41FA5}">
                      <a16:colId xmlns:a16="http://schemas.microsoft.com/office/drawing/2014/main" val="20001"/>
                    </a:ext>
                  </a:extLst>
                </a:gridCol>
                <a:gridCol w="4392000">
                  <a:extLst>
                    <a:ext uri="{9D8B030D-6E8A-4147-A177-3AD203B41FA5}">
                      <a16:colId xmlns:a16="http://schemas.microsoft.com/office/drawing/2014/main" val="20002"/>
                    </a:ext>
                  </a:extLst>
                </a:gridCol>
                <a:gridCol w="4392000">
                  <a:extLst>
                    <a:ext uri="{9D8B030D-6E8A-4147-A177-3AD203B41FA5}">
                      <a16:colId xmlns:a16="http://schemas.microsoft.com/office/drawing/2014/main" val="20003"/>
                    </a:ext>
                  </a:extLst>
                </a:gridCol>
                <a:gridCol w="4392000">
                  <a:extLst>
                    <a:ext uri="{9D8B030D-6E8A-4147-A177-3AD203B41FA5}">
                      <a16:colId xmlns:a16="http://schemas.microsoft.com/office/drawing/2014/main" val="20004"/>
                    </a:ext>
                  </a:extLst>
                </a:gridCol>
              </a:tblGrid>
              <a:tr h="1516680">
                <a:tc>
                  <a:txBody>
                    <a:bodyPr/>
                    <a:lstStyle/>
                    <a:p>
                      <a:endParaRPr lang="fr-FR"/>
                    </a:p>
                  </a:txBody>
                  <a:tcPr anchor="ctr">
                    <a:lnL w="28080">
                      <a:noFill/>
                    </a:lnL>
                    <a:lnR w="28080">
                      <a:solidFill>
                        <a:srgbClr val="000000"/>
                      </a:solidFill>
                    </a:lnR>
                    <a:lnT w="28080">
                      <a:noFill/>
                    </a:lnT>
                    <a:lnB w="28080">
                      <a:solidFill>
                        <a:srgbClr val="000000"/>
                      </a:solidFill>
                    </a:lnB>
                    <a:noFill/>
                  </a:tcPr>
                </a:tc>
                <a:tc>
                  <a:txBody>
                    <a:bodyPr/>
                    <a:lstStyle/>
                    <a:p>
                      <a:pPr algn="ctr">
                        <a:lnSpc>
                          <a:spcPct val="100000"/>
                        </a:lnSpc>
                        <a:buNone/>
                      </a:pPr>
                      <a:r>
                        <a:rPr lang="fr-FR" sz="3600" b="1" i="1" strike="noStrike" spc="-1">
                          <a:solidFill>
                            <a:srgbClr val="000080"/>
                          </a:solidFill>
                          <a:latin typeface="Times New Roman"/>
                        </a:rPr>
                        <a:t> OBSERVATIONS</a:t>
                      </a:r>
                      <a:endParaRPr lang="fr-FR" sz="3600" b="0" strike="noStrike" spc="-1">
                        <a:latin typeface="Arial"/>
                      </a:endParaRPr>
                    </a:p>
                  </a:txBody>
                  <a:tcPr anchor="ctr">
                    <a:lnL w="28080">
                      <a:solidFill>
                        <a:srgbClr val="000000"/>
                      </a:solidFill>
                    </a:lnL>
                    <a:lnR w="28080">
                      <a:solidFill>
                        <a:srgbClr val="000000"/>
                      </a:solidFill>
                    </a:lnR>
                    <a:lnT w="28080">
                      <a:solidFill>
                        <a:srgbClr val="000000"/>
                      </a:solidFill>
                    </a:lnT>
                    <a:lnB w="28080">
                      <a:solidFill>
                        <a:srgbClr val="000000"/>
                      </a:solidFill>
                    </a:lnB>
                    <a:noFill/>
                  </a:tcPr>
                </a:tc>
                <a:tc>
                  <a:txBody>
                    <a:bodyPr/>
                    <a:lstStyle/>
                    <a:p>
                      <a:pPr algn="ctr">
                        <a:lnSpc>
                          <a:spcPct val="100000"/>
                        </a:lnSpc>
                        <a:buNone/>
                      </a:pPr>
                      <a:r>
                        <a:rPr lang="en-GB" sz="3600" b="1" i="1" strike="noStrike" spc="-1">
                          <a:solidFill>
                            <a:srgbClr val="000080"/>
                          </a:solidFill>
                          <a:latin typeface="Times New Roman"/>
                        </a:rPr>
                        <a:t>AROME_ICE3</a:t>
                      </a:r>
                      <a:endParaRPr lang="fr-FR" sz="3600" b="0" strike="noStrike" spc="-1">
                        <a:latin typeface="Arial"/>
                      </a:endParaRPr>
                    </a:p>
                  </a:txBody>
                  <a:tcPr anchor="ctr">
                    <a:lnL w="28080">
                      <a:solidFill>
                        <a:srgbClr val="000000"/>
                      </a:solidFill>
                    </a:lnL>
                    <a:lnR w="28080">
                      <a:solidFill>
                        <a:srgbClr val="000000"/>
                      </a:solidFill>
                    </a:lnR>
                    <a:lnT w="28080">
                      <a:solidFill>
                        <a:srgbClr val="000000"/>
                      </a:solidFill>
                    </a:lnT>
                    <a:lnB w="28080">
                      <a:solidFill>
                        <a:srgbClr val="000000"/>
                      </a:solidFill>
                    </a:lnB>
                    <a:noFill/>
                  </a:tcPr>
                </a:tc>
                <a:tc>
                  <a:txBody>
                    <a:bodyPr/>
                    <a:lstStyle/>
                    <a:p>
                      <a:pPr algn="ctr">
                        <a:lnSpc>
                          <a:spcPct val="100000"/>
                        </a:lnSpc>
                        <a:buNone/>
                        <a:tabLst>
                          <a:tab pos="0" algn="l"/>
                        </a:tabLst>
                      </a:pPr>
                      <a:r>
                        <a:rPr lang="en-GB" sz="3600" b="1" i="1" strike="noStrike" spc="-1">
                          <a:solidFill>
                            <a:srgbClr val="000080"/>
                          </a:solidFill>
                          <a:latin typeface="Times New Roman"/>
                        </a:rPr>
                        <a:t>AROME_LIMA</a:t>
                      </a:r>
                      <a:endParaRPr lang="fr-FR" sz="3600" b="0" strike="noStrike" spc="-1">
                        <a:latin typeface="Arial"/>
                      </a:endParaRPr>
                    </a:p>
                  </a:txBody>
                  <a:tcPr anchor="ctr">
                    <a:lnL w="28080">
                      <a:solidFill>
                        <a:srgbClr val="000000"/>
                      </a:solidFill>
                    </a:lnL>
                    <a:lnR w="28080">
                      <a:solidFill>
                        <a:srgbClr val="000000"/>
                      </a:solidFill>
                    </a:lnR>
                    <a:lnT w="28080">
                      <a:solidFill>
                        <a:srgbClr val="000000"/>
                      </a:solidFill>
                    </a:lnT>
                    <a:lnB w="28080">
                      <a:solidFill>
                        <a:srgbClr val="000000"/>
                      </a:solidFill>
                    </a:lnB>
                    <a:noFill/>
                  </a:tcPr>
                </a:tc>
                <a:tc>
                  <a:txBody>
                    <a:bodyPr/>
                    <a:lstStyle/>
                    <a:p>
                      <a:pPr algn="ctr">
                        <a:lnSpc>
                          <a:spcPct val="100000"/>
                        </a:lnSpc>
                        <a:buNone/>
                        <a:tabLst>
                          <a:tab pos="0" algn="l"/>
                        </a:tabLst>
                      </a:pPr>
                      <a:r>
                        <a:rPr lang="en-GB" sz="3600" b="1" i="1" strike="noStrike" spc="-1">
                          <a:solidFill>
                            <a:srgbClr val="000080"/>
                          </a:solidFill>
                          <a:latin typeface="Times New Roman"/>
                        </a:rPr>
                        <a:t>AROME_INIT</a:t>
                      </a:r>
                      <a:endParaRPr lang="fr-FR" sz="3600" b="0" strike="noStrike" spc="-1">
                        <a:latin typeface="Arial"/>
                      </a:endParaRPr>
                    </a:p>
                  </a:txBody>
                  <a:tcPr anchor="ctr">
                    <a:lnL w="28080">
                      <a:solidFill>
                        <a:srgbClr val="000000"/>
                      </a:solidFill>
                    </a:lnL>
                    <a:lnR w="28080">
                      <a:solidFill>
                        <a:srgbClr val="000000"/>
                      </a:solidFill>
                    </a:lnR>
                    <a:lnT w="28080">
                      <a:solidFill>
                        <a:srgbClr val="000000"/>
                      </a:solidFill>
                    </a:lnT>
                    <a:lnB w="28080">
                      <a:solidFill>
                        <a:srgbClr val="000000"/>
                      </a:solidFill>
                    </a:lnB>
                    <a:noFill/>
                  </a:tcPr>
                </a:tc>
                <a:extLst>
                  <a:ext uri="{0D108BD9-81ED-4DB2-BD59-A6C34878D82A}">
                    <a16:rowId xmlns:a16="http://schemas.microsoft.com/office/drawing/2014/main" val="10000"/>
                  </a:ext>
                </a:extLst>
              </a:tr>
              <a:tr h="3647880">
                <a:tc>
                  <a:txBody>
                    <a:bodyPr/>
                    <a:lstStyle/>
                    <a:p>
                      <a:pPr algn="ctr">
                        <a:lnSpc>
                          <a:spcPct val="100000"/>
                        </a:lnSpc>
                        <a:buNone/>
                        <a:tabLst>
                          <a:tab pos="0" algn="l"/>
                        </a:tabLst>
                      </a:pPr>
                      <a:r>
                        <a:rPr lang="en-US" sz="3600" b="1" i="1" strike="noStrike" spc="-1">
                          <a:solidFill>
                            <a:srgbClr val="000080"/>
                          </a:solidFill>
                          <a:latin typeface="Times New Roman"/>
                        </a:rPr>
                        <a:t>2022 /01/01 </a:t>
                      </a:r>
                      <a:endParaRPr lang="fr-FR" sz="3600" b="0" strike="noStrike" spc="-1">
                        <a:latin typeface="Arial"/>
                      </a:endParaRPr>
                    </a:p>
                    <a:p>
                      <a:pPr algn="ctr">
                        <a:lnSpc>
                          <a:spcPct val="100000"/>
                        </a:lnSpc>
                        <a:buNone/>
                        <a:tabLst>
                          <a:tab pos="0" algn="l"/>
                        </a:tabLst>
                      </a:pPr>
                      <a:r>
                        <a:rPr lang="fr-FR" sz="3600" b="1" i="1" strike="noStrike" spc="-1">
                          <a:solidFill>
                            <a:srgbClr val="000080"/>
                          </a:solidFill>
                          <a:latin typeface="Times New Roman"/>
                        </a:rPr>
                        <a:t>09h</a:t>
                      </a:r>
                      <a:endParaRPr lang="fr-FR" sz="3600" b="0" strike="noStrike" spc="-1">
                        <a:latin typeface="Arial"/>
                      </a:endParaRPr>
                    </a:p>
                  </a:txBody>
                  <a:tcPr anchor="ctr">
                    <a:lnL w="28080">
                      <a:solidFill>
                        <a:srgbClr val="000000"/>
                      </a:solidFill>
                    </a:lnL>
                    <a:lnR w="28080">
                      <a:solidFill>
                        <a:srgbClr val="000000"/>
                      </a:solidFill>
                    </a:lnR>
                    <a:lnT w="28080">
                      <a:solidFill>
                        <a:srgbClr val="000000"/>
                      </a:solidFill>
                    </a:lnT>
                    <a:lnB w="28080">
                      <a:solidFill>
                        <a:srgbClr val="000000"/>
                      </a:solidFill>
                    </a:lnB>
                    <a:noFill/>
                  </a:tcPr>
                </a:tc>
                <a:tc>
                  <a:txBody>
                    <a:bodyPr/>
                    <a:lstStyle/>
                    <a:p>
                      <a:endParaRPr lang="fr-FR"/>
                    </a:p>
                  </a:txBody>
                  <a:tcPr anchor="ctr">
                    <a:lnL w="28080">
                      <a:solidFill>
                        <a:srgbClr val="000000"/>
                      </a:solidFill>
                    </a:lnL>
                    <a:lnR w="28080">
                      <a:solidFill>
                        <a:srgbClr val="000000"/>
                      </a:solidFill>
                    </a:lnR>
                    <a:lnT w="28080">
                      <a:solidFill>
                        <a:srgbClr val="000000"/>
                      </a:solidFill>
                    </a:lnT>
                    <a:lnB w="28080">
                      <a:solidFill>
                        <a:srgbClr val="000000"/>
                      </a:solidFill>
                    </a:lnB>
                    <a:noFill/>
                  </a:tcPr>
                </a:tc>
                <a:tc>
                  <a:txBody>
                    <a:bodyPr/>
                    <a:lstStyle/>
                    <a:p>
                      <a:endParaRPr lang="fr-FR"/>
                    </a:p>
                  </a:txBody>
                  <a:tcPr anchor="ctr">
                    <a:lnL w="28080">
                      <a:solidFill>
                        <a:srgbClr val="000000"/>
                      </a:solidFill>
                    </a:lnL>
                    <a:lnR w="28080">
                      <a:solidFill>
                        <a:srgbClr val="000000"/>
                      </a:solidFill>
                    </a:lnR>
                    <a:lnT w="28080">
                      <a:solidFill>
                        <a:srgbClr val="000000"/>
                      </a:solidFill>
                    </a:lnT>
                    <a:lnB w="28080">
                      <a:solidFill>
                        <a:srgbClr val="000000"/>
                      </a:solidFill>
                    </a:lnB>
                    <a:noFill/>
                  </a:tcPr>
                </a:tc>
                <a:tc>
                  <a:txBody>
                    <a:bodyPr/>
                    <a:lstStyle/>
                    <a:p>
                      <a:endParaRPr lang="fr-FR"/>
                    </a:p>
                  </a:txBody>
                  <a:tcPr anchor="ctr">
                    <a:lnL w="28080">
                      <a:solidFill>
                        <a:srgbClr val="000000"/>
                      </a:solidFill>
                    </a:lnL>
                    <a:lnR w="28080">
                      <a:solidFill>
                        <a:srgbClr val="000000"/>
                      </a:solidFill>
                    </a:lnR>
                    <a:lnT w="28080">
                      <a:solidFill>
                        <a:srgbClr val="000000"/>
                      </a:solidFill>
                    </a:lnT>
                    <a:lnB w="28080">
                      <a:solidFill>
                        <a:srgbClr val="000000"/>
                      </a:solidFill>
                    </a:lnB>
                    <a:noFill/>
                  </a:tcPr>
                </a:tc>
                <a:tc>
                  <a:txBody>
                    <a:bodyPr/>
                    <a:lstStyle/>
                    <a:p>
                      <a:endParaRPr lang="fr-FR"/>
                    </a:p>
                  </a:txBody>
                  <a:tcPr anchor="ctr">
                    <a:lnL w="28080">
                      <a:solidFill>
                        <a:srgbClr val="000000"/>
                      </a:solidFill>
                    </a:lnL>
                    <a:lnR w="28080">
                      <a:solidFill>
                        <a:srgbClr val="000000"/>
                      </a:solidFill>
                    </a:lnR>
                    <a:lnT w="28080">
                      <a:solidFill>
                        <a:srgbClr val="000000"/>
                      </a:solidFill>
                    </a:lnT>
                    <a:lnB w="28080">
                      <a:solidFill>
                        <a:srgbClr val="000000"/>
                      </a:solidFill>
                    </a:lnB>
                    <a:noFill/>
                  </a:tcPr>
                </a:tc>
                <a:extLst>
                  <a:ext uri="{0D108BD9-81ED-4DB2-BD59-A6C34878D82A}">
                    <a16:rowId xmlns:a16="http://schemas.microsoft.com/office/drawing/2014/main" val="10001"/>
                  </a:ext>
                </a:extLst>
              </a:tr>
            </a:tbl>
          </a:graphicData>
        </a:graphic>
      </p:graphicFrame>
      <p:pic>
        <p:nvPicPr>
          <p:cNvPr id="172" name="Picture 63"/>
          <p:cNvPicPr/>
          <p:nvPr/>
        </p:nvPicPr>
        <p:blipFill>
          <a:blip r:embed="rId6"/>
          <a:srcRect t="18054" b="20328"/>
          <a:stretch/>
        </p:blipFill>
        <p:spPr>
          <a:xfrm>
            <a:off x="12183840" y="37773000"/>
            <a:ext cx="3834720" cy="3161160"/>
          </a:xfrm>
          <a:prstGeom prst="rect">
            <a:avLst/>
          </a:prstGeom>
          <a:ln w="0">
            <a:noFill/>
          </a:ln>
        </p:spPr>
      </p:pic>
      <p:pic>
        <p:nvPicPr>
          <p:cNvPr id="173" name="Picture 64"/>
          <p:cNvPicPr/>
          <p:nvPr/>
        </p:nvPicPr>
        <p:blipFill>
          <a:blip r:embed="rId7"/>
          <a:srcRect l="9129" t="15200" r="4345" b="15577"/>
          <a:stretch/>
        </p:blipFill>
        <p:spPr>
          <a:xfrm>
            <a:off x="16731720" y="37893960"/>
            <a:ext cx="3834720" cy="3161160"/>
          </a:xfrm>
          <a:prstGeom prst="rect">
            <a:avLst/>
          </a:prstGeom>
          <a:ln w="0">
            <a:noFill/>
          </a:ln>
        </p:spPr>
      </p:pic>
      <p:pic>
        <p:nvPicPr>
          <p:cNvPr id="174" name="Picture 65"/>
          <p:cNvPicPr/>
          <p:nvPr/>
        </p:nvPicPr>
        <p:blipFill>
          <a:blip r:embed="rId8"/>
          <a:srcRect l="5283" t="10978" r="7" b="15249"/>
          <a:stretch/>
        </p:blipFill>
        <p:spPr>
          <a:xfrm>
            <a:off x="21038400" y="37783440"/>
            <a:ext cx="4140000" cy="3256560"/>
          </a:xfrm>
          <a:prstGeom prst="rect">
            <a:avLst/>
          </a:prstGeom>
          <a:ln w="0">
            <a:noFill/>
          </a:ln>
        </p:spPr>
      </p:pic>
      <p:pic>
        <p:nvPicPr>
          <p:cNvPr id="175" name="Picture 66"/>
          <p:cNvPicPr/>
          <p:nvPr/>
        </p:nvPicPr>
        <p:blipFill>
          <a:blip r:embed="rId9"/>
          <a:srcRect l="4006" t="13369" r="15" b="12864"/>
          <a:stretch/>
        </p:blipFill>
        <p:spPr>
          <a:xfrm>
            <a:off x="25320240" y="37944000"/>
            <a:ext cx="4172040" cy="3060000"/>
          </a:xfrm>
          <a:prstGeom prst="rect">
            <a:avLst/>
          </a:prstGeom>
          <a:ln w="0">
            <a:noFill/>
          </a:ln>
        </p:spPr>
      </p:pic>
      <p:sp>
        <p:nvSpPr>
          <p:cNvPr id="176" name="TextBox 71"/>
          <p:cNvSpPr/>
          <p:nvPr/>
        </p:nvSpPr>
        <p:spPr>
          <a:xfrm>
            <a:off x="11570040" y="34961400"/>
            <a:ext cx="4771080" cy="54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US" sz="3000" b="1" i="1" strike="noStrike" spc="-1">
                <a:solidFill>
                  <a:srgbClr val="000080"/>
                </a:solidFill>
                <a:latin typeface="Times New Roman"/>
                <a:ea typeface="DejaVu Sans"/>
              </a:rPr>
              <a:t>Fig. 2:</a:t>
            </a:r>
            <a:r>
              <a:rPr lang="en-US" sz="3000" b="0" strike="noStrike" spc="-1">
                <a:solidFill>
                  <a:srgbClr val="000080"/>
                </a:solidFill>
                <a:latin typeface="Times New Roman"/>
                <a:ea typeface="DejaVu Sans"/>
              </a:rPr>
              <a:t>  RMSE temperature</a:t>
            </a:r>
            <a:endParaRPr lang="fr-FR" sz="3000" b="0" strike="noStrike" spc="-1">
              <a:latin typeface="Arial"/>
            </a:endParaRPr>
          </a:p>
        </p:txBody>
      </p:sp>
      <p:sp>
        <p:nvSpPr>
          <p:cNvPr id="177" name="TextBox 72"/>
          <p:cNvSpPr/>
          <p:nvPr/>
        </p:nvSpPr>
        <p:spPr>
          <a:xfrm>
            <a:off x="18200520" y="34903080"/>
            <a:ext cx="4771080" cy="54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US" sz="3000" b="1" i="1" strike="noStrike" spc="-1">
                <a:solidFill>
                  <a:srgbClr val="000080"/>
                </a:solidFill>
                <a:latin typeface="Times New Roman"/>
                <a:ea typeface="DejaVu Sans"/>
              </a:rPr>
              <a:t>Fig. 3:</a:t>
            </a:r>
            <a:r>
              <a:rPr lang="en-US" sz="3000" b="0" strike="noStrike" spc="-1">
                <a:solidFill>
                  <a:srgbClr val="000080"/>
                </a:solidFill>
                <a:latin typeface="Times New Roman"/>
                <a:ea typeface="DejaVu Sans"/>
              </a:rPr>
              <a:t>  RMSE Rh2m</a:t>
            </a:r>
            <a:endParaRPr lang="fr-FR" sz="3000" b="0" strike="noStrike" spc="-1">
              <a:latin typeface="Arial"/>
            </a:endParaRPr>
          </a:p>
        </p:txBody>
      </p:sp>
      <p:sp>
        <p:nvSpPr>
          <p:cNvPr id="178" name="TextBox 73"/>
          <p:cNvSpPr/>
          <p:nvPr/>
        </p:nvSpPr>
        <p:spPr>
          <a:xfrm>
            <a:off x="815760" y="24554520"/>
            <a:ext cx="8744400" cy="12790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spcBef>
                <a:spcPts val="1134"/>
              </a:spcBef>
              <a:spcAft>
                <a:spcPts val="1134"/>
              </a:spcAft>
              <a:buNone/>
            </a:pPr>
            <a:r>
              <a:rPr lang="en-US" sz="3600" b="0" i="1" strike="noStrike" spc="-1">
                <a:solidFill>
                  <a:srgbClr val="000000"/>
                </a:solidFill>
                <a:latin typeface="Times New Roman"/>
                <a:ea typeface="DejaVu Sans"/>
              </a:rPr>
              <a:t>The results for the selected scenario show :</a:t>
            </a:r>
            <a:endParaRPr lang="fr-FR" sz="3600" b="0" strike="noStrike" spc="-1">
              <a:latin typeface="Arial"/>
            </a:endParaRPr>
          </a:p>
          <a:p>
            <a:pPr marL="571680" indent="-571680" algn="just">
              <a:lnSpc>
                <a:spcPct val="100000"/>
              </a:lnSpc>
              <a:spcBef>
                <a:spcPts val="1134"/>
              </a:spcBef>
              <a:spcAft>
                <a:spcPts val="1134"/>
              </a:spcAft>
              <a:buClr>
                <a:srgbClr val="000000"/>
              </a:buClr>
              <a:buFont typeface="StarSymbol"/>
              <a:buChar char="-"/>
            </a:pPr>
            <a:r>
              <a:rPr lang="en-US" sz="3600" b="0" i="1" strike="noStrike" spc="-1">
                <a:solidFill>
                  <a:srgbClr val="000000"/>
                </a:solidFill>
                <a:latin typeface="Times New Roman"/>
                <a:ea typeface="DejaVu Sans"/>
              </a:rPr>
              <a:t>Visibility values lower at all forecast times compared to visibilities simulated by the ICE3 or LIMA schemes without aerosol initialization.</a:t>
            </a:r>
            <a:endParaRPr lang="fr-FR" sz="3600" b="0" strike="noStrike" spc="-1">
              <a:latin typeface="Arial"/>
            </a:endParaRPr>
          </a:p>
          <a:p>
            <a:pPr marL="571680" indent="-571680" algn="just">
              <a:lnSpc>
                <a:spcPct val="150000"/>
              </a:lnSpc>
              <a:spcBef>
                <a:spcPts val="1134"/>
              </a:spcBef>
              <a:spcAft>
                <a:spcPts val="1134"/>
              </a:spcAft>
              <a:buClr>
                <a:srgbClr val="000000"/>
              </a:buClr>
              <a:buFont typeface="StarSymbol"/>
              <a:buChar char="-"/>
            </a:pPr>
            <a:r>
              <a:rPr lang="en-US" sz="3600" b="0" i="1" strike="noStrike" spc="-1">
                <a:solidFill>
                  <a:srgbClr val="000000"/>
                </a:solidFill>
                <a:latin typeface="Times New Roman"/>
                <a:ea typeface="DejaVu Sans"/>
              </a:rPr>
              <a:t>The scores of T2m and Rh2m for the LIMA_INIT configuration demonstrates a fluctuation and even behavior similar to the other two configurations.</a:t>
            </a:r>
            <a:endParaRPr lang="fr-FR" sz="3600" b="0" strike="noStrike" spc="-1">
              <a:latin typeface="Arial"/>
            </a:endParaRPr>
          </a:p>
          <a:p>
            <a:pPr>
              <a:lnSpc>
                <a:spcPct val="100000"/>
              </a:lnSpc>
              <a:spcBef>
                <a:spcPts val="1134"/>
              </a:spcBef>
              <a:spcAft>
                <a:spcPts val="1134"/>
              </a:spcAft>
              <a:buNone/>
            </a:pPr>
            <a:r>
              <a:rPr lang="en-US" sz="3600" b="1" i="1" u="sng" strike="noStrike" spc="-1">
                <a:solidFill>
                  <a:srgbClr val="0D0D0D"/>
                </a:solidFill>
                <a:highlight>
                  <a:srgbClr val="FFFFFF"/>
                </a:highlight>
                <a:uFillTx/>
                <a:latin typeface="Times New Roman"/>
                <a:ea typeface="DejaVu Sans"/>
              </a:rPr>
              <a:t>Further</a:t>
            </a:r>
            <a:r>
              <a:rPr lang="fr-FR" sz="3600" b="1" i="1" u="sng" strike="noStrike" spc="-1">
                <a:solidFill>
                  <a:srgbClr val="0D0D0D"/>
                </a:solidFill>
                <a:highlight>
                  <a:srgbClr val="FFFFFF"/>
                </a:highlight>
                <a:uFillTx/>
                <a:latin typeface="Times New Roman"/>
                <a:ea typeface="DejaVu Sans"/>
              </a:rPr>
              <a:t> </a:t>
            </a:r>
            <a:r>
              <a:rPr lang="en-US" sz="3600" b="1" i="1" u="sng" strike="noStrike" spc="-1">
                <a:solidFill>
                  <a:srgbClr val="0D0D0D"/>
                </a:solidFill>
                <a:highlight>
                  <a:srgbClr val="FFFFFF"/>
                </a:highlight>
                <a:uFillTx/>
                <a:latin typeface="Times New Roman"/>
                <a:ea typeface="DejaVu Sans"/>
              </a:rPr>
              <a:t>work is planned </a:t>
            </a:r>
            <a:r>
              <a:rPr lang="fr-FR" sz="3600" b="1" i="1" u="sng" strike="noStrike" spc="-1">
                <a:solidFill>
                  <a:srgbClr val="0D0D0D"/>
                </a:solidFill>
                <a:highlight>
                  <a:srgbClr val="FFFFFF"/>
                </a:highlight>
                <a:uFillTx/>
                <a:latin typeface="Times New Roman"/>
                <a:ea typeface="DejaVu Sans"/>
              </a:rPr>
              <a:t>:</a:t>
            </a:r>
            <a:endParaRPr lang="fr-FR" sz="3600" b="0" strike="noStrike" spc="-1">
              <a:latin typeface="Arial"/>
            </a:endParaRPr>
          </a:p>
          <a:p>
            <a:pPr marL="571680" indent="-571680" algn="just">
              <a:lnSpc>
                <a:spcPct val="100000"/>
              </a:lnSpc>
              <a:spcBef>
                <a:spcPts val="1134"/>
              </a:spcBef>
              <a:spcAft>
                <a:spcPts val="1134"/>
              </a:spcAft>
              <a:buClr>
                <a:srgbClr val="0D0D0D"/>
              </a:buClr>
              <a:buFont typeface="StarSymbol"/>
              <a:buChar char="-"/>
            </a:pPr>
            <a:r>
              <a:rPr lang="en-US" sz="3600" b="0" i="1" strike="noStrike" spc="-1">
                <a:solidFill>
                  <a:srgbClr val="0D0D0D"/>
                </a:solidFill>
                <a:highlight>
                  <a:srgbClr val="FFFFFF"/>
                </a:highlight>
                <a:latin typeface="Times New Roman"/>
                <a:ea typeface="DejaVu Sans"/>
              </a:rPr>
              <a:t>Evaluate results against observations over an extended period and different seasons, including LWC, T2m, Rh2m and visibilities.</a:t>
            </a:r>
            <a:endParaRPr lang="fr-FR" sz="3600" b="0" strike="noStrike" spc="-1">
              <a:latin typeface="Arial"/>
            </a:endParaRPr>
          </a:p>
          <a:p>
            <a:pPr marL="571680" indent="-571680" algn="just">
              <a:lnSpc>
                <a:spcPct val="100000"/>
              </a:lnSpc>
              <a:spcBef>
                <a:spcPts val="1134"/>
              </a:spcBef>
              <a:spcAft>
                <a:spcPts val="1134"/>
              </a:spcAft>
              <a:buClr>
                <a:srgbClr val="0D0D0D"/>
              </a:buClr>
              <a:buFont typeface="StarSymbol"/>
              <a:buChar char="-"/>
            </a:pPr>
            <a:r>
              <a:rPr lang="en-US" sz="3600" b="0" i="1" strike="noStrike" spc="-1">
                <a:solidFill>
                  <a:srgbClr val="0D0D0D"/>
                </a:solidFill>
                <a:highlight>
                  <a:srgbClr val="FFFFFF"/>
                </a:highlight>
                <a:latin typeface="Times New Roman"/>
                <a:ea typeface="DejaVu Sans"/>
              </a:rPr>
              <a:t>Investigate physical processes in the LIMA to improve fog  forecasting.</a:t>
            </a:r>
            <a:endParaRPr lang="fr-FR" sz="3600" b="0" strike="noStrike" spc="-1">
              <a:latin typeface="Arial"/>
            </a:endParaRPr>
          </a:p>
          <a:p>
            <a:pPr marL="571680" indent="-571680" algn="just">
              <a:lnSpc>
                <a:spcPct val="100000"/>
              </a:lnSpc>
              <a:spcBef>
                <a:spcPts val="1134"/>
              </a:spcBef>
              <a:spcAft>
                <a:spcPts val="1134"/>
              </a:spcAft>
              <a:buClr>
                <a:srgbClr val="0D0D0D"/>
              </a:buClr>
              <a:buFont typeface="StarSymbol"/>
              <a:buChar char="-"/>
            </a:pPr>
            <a:r>
              <a:rPr lang="en-US" sz="3600" b="0" i="1" strike="noStrike" spc="-1">
                <a:solidFill>
                  <a:srgbClr val="0D0D0D"/>
                </a:solidFill>
                <a:highlight>
                  <a:srgbClr val="FFFFFF"/>
                </a:highlight>
                <a:latin typeface="Times New Roman"/>
                <a:ea typeface="DejaVu Sans"/>
              </a:rPr>
              <a:t>Implement direct LWC calculated by the LIMA scheme.</a:t>
            </a:r>
            <a:endParaRPr lang="fr-FR" sz="3600" b="0" strike="noStrike" spc="-1">
              <a:latin typeface="Arial"/>
            </a:endParaRPr>
          </a:p>
        </p:txBody>
      </p:sp>
      <p:pic>
        <p:nvPicPr>
          <p:cNvPr id="179" name="Picture 1"/>
          <p:cNvPicPr/>
          <p:nvPr/>
        </p:nvPicPr>
        <p:blipFill>
          <a:blip r:embed="rId10"/>
          <a:stretch/>
        </p:blipFill>
        <p:spPr>
          <a:xfrm>
            <a:off x="10296000" y="21816000"/>
            <a:ext cx="4679280" cy="5022720"/>
          </a:xfrm>
          <a:prstGeom prst="rect">
            <a:avLst/>
          </a:prstGeom>
          <a:ln w="0">
            <a:noFill/>
          </a:ln>
        </p:spPr>
      </p:pic>
      <p:pic>
        <p:nvPicPr>
          <p:cNvPr id="180" name="Picture 2"/>
          <p:cNvPicPr/>
          <p:nvPr/>
        </p:nvPicPr>
        <p:blipFill>
          <a:blip r:embed="rId11"/>
          <a:stretch/>
        </p:blipFill>
        <p:spPr>
          <a:xfrm>
            <a:off x="23940000" y="29520000"/>
            <a:ext cx="6082920" cy="5445360"/>
          </a:xfrm>
          <a:prstGeom prst="rect">
            <a:avLst/>
          </a:prstGeom>
          <a:ln w="0">
            <a:noFill/>
          </a:ln>
        </p:spPr>
      </p:pic>
      <p:sp>
        <p:nvSpPr>
          <p:cNvPr id="181" name="TextBox 1"/>
          <p:cNvSpPr/>
          <p:nvPr/>
        </p:nvSpPr>
        <p:spPr>
          <a:xfrm>
            <a:off x="24748560" y="34884000"/>
            <a:ext cx="4771080" cy="100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US" sz="3000" b="1" i="1" strike="noStrike" spc="-1">
                <a:solidFill>
                  <a:srgbClr val="000080"/>
                </a:solidFill>
                <a:latin typeface="Times New Roman"/>
                <a:ea typeface="DejaVu Sans"/>
              </a:rPr>
              <a:t>Fig. 4:</a:t>
            </a:r>
            <a:r>
              <a:rPr lang="en-US" sz="3000" b="0" strike="noStrike" spc="-1">
                <a:solidFill>
                  <a:srgbClr val="000080"/>
                </a:solidFill>
                <a:latin typeface="Times New Roman"/>
                <a:ea typeface="DejaVu Sans"/>
              </a:rPr>
              <a:t>  Representation of Vis with 3 configurations </a:t>
            </a:r>
            <a:endParaRPr lang="fr-FR" sz="3000" b="0" strike="noStrike" spc="-1">
              <a:latin typeface="Arial"/>
            </a:endParaRPr>
          </a:p>
        </p:txBody>
      </p:sp>
      <p:sp>
        <p:nvSpPr>
          <p:cNvPr id="182" name="TextBox 2"/>
          <p:cNvSpPr/>
          <p:nvPr/>
        </p:nvSpPr>
        <p:spPr>
          <a:xfrm>
            <a:off x="15336000" y="41428800"/>
            <a:ext cx="10979640" cy="100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US" sz="3000" b="1" i="1" strike="noStrike" spc="-1">
                <a:solidFill>
                  <a:srgbClr val="000080"/>
                </a:solidFill>
                <a:latin typeface="Times New Roman"/>
                <a:ea typeface="DejaVu Sans"/>
              </a:rPr>
              <a:t>Fig. 5:</a:t>
            </a:r>
            <a:r>
              <a:rPr lang="en-US" sz="3000" b="0" strike="noStrike" spc="-1">
                <a:solidFill>
                  <a:srgbClr val="000080"/>
                </a:solidFill>
                <a:latin typeface="Times New Roman"/>
                <a:ea typeface="DejaVu Sans"/>
              </a:rPr>
              <a:t>  Visual comparaison of Visibiility for the 3 configurations (2022-01-01 ; leadtime : 09h )  </a:t>
            </a:r>
            <a:endParaRPr lang="fr-FR" sz="30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1619</TotalTime>
  <Words>749</Words>
  <Application>Microsoft Office PowerPoint</Application>
  <PresentationFormat>Custom</PresentationFormat>
  <Paragraphs>95</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Cambria Math</vt:lpstr>
      <vt:lpstr>StarSymbol</vt:lpstr>
      <vt:lpstr>Symbol</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walid chikhi</dc:creator>
  <dc:description/>
  <cp:lastModifiedBy>walid chikhi</cp:lastModifiedBy>
  <cp:revision>120</cp:revision>
  <cp:lastPrinted>2024-04-06T21:10:04Z</cp:lastPrinted>
  <dcterms:created xsi:type="dcterms:W3CDTF">2024-04-05T10:50:29Z</dcterms:created>
  <dcterms:modified xsi:type="dcterms:W3CDTF">2024-04-08T07:46:03Z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i4>4</vt:i4>
  </property>
</Properties>
</file>